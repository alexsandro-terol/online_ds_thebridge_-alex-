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75" r:id="rId17"/>
    <p:sldId id="274" r:id="rId18"/>
    <p:sldId id="273" r:id="rId19"/>
    <p:sldId id="272" r:id="rId20"/>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habla así:
"Este slide es donde muchos proyectos se rinden. Nosotros no.
El Buy &amp; Hold del oro sube un 145% en el periodo de test. Es un benchmark brutal para cualquier sistema de trading activo. Pero lo importante no es que no lo superemos — es lo que aprendemos de esa comparación.
El trading activo tiene costes que el Buy &amp; Hold no tiene. Cada operación consume 0.13% de capital. Si operas 800 veces al año, eso es el 100% de tu capital solo en costes.
Este benchmark nos fuerza a ser selectivos. El sistema que construimos no intenta ganar siempre — intenta ganar cuando las condiciones garantizan que los beneficios superan los costes. Y eso es exactamente lo que hace un gestor de riesgo profesional."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habla así:
"Este proyecto empezó con una hipótesis simple: si puedo predecir si el oro sube o baja con un 55% de acierto, debería ganar dinero.
Esa hipótesis era incorrecta. Y aprenderlo es lo más valioso de todo el proyecto.
Lo que construimos es fundamentalmente diferente a un modelo de predicción. Es un sistema de decisión que combina señal estadística, contexto macroeconómico y detección de régimen de mercado para operar solo cuando hay ventaja real.
¿Funciona perfectamente? No. ¿Demuestra que el enfoque es correcto? Absolutamente.
La siguiente iteración de este sistema — con datos de flujo de capital, sentiment y noticias — tiene potencial real de producción. Y eso sí lo podemos afirmar con los datos que tenemos."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habla así:
"Para entender el valor real de este sistema, pongámoslo en contexto de uso real.
Un trader profesional de XAUUSD toma entre 15 y 25 decisiones al día. Cada decisión requiere análisis técnico, validación de contexto macro y gestión de riesgo. Es agotador y propenso a errores emocionales.
Este sistema actúa como un filtro de primera capa. Antes de que el trader abra una posición, el sistema ya verificó automáticamente seis condiciones objetivas. Si alguna falla, la señal no llega al trader.
El resultado es que el trader solo ve las mejores oportunidades. Menos operaciones. Menos costes. Menos desgaste. Y las operaciones que ejecuta tienen una base estadística sólida.
Esto tiene valor real más allá del Sharpe ratio — reduce el sesgo emocional, que es la causa número uno de pérdidas en trading retail."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habla así:
"Quiero ser completamente honesto sobre lo que este sistema puede y no puede hacer ahora mismo.
El backtesting es una condición necesaria pero no suficiente. Hemos validado que el enfoque es correcto en datos históricos. Pero los mercados cambian. Lo que funcionó entre 2004 y 2025 puede no funcionar igual en 2026. Por eso el siguiente paso obligatorio es forward testing en paper trading durante al menos 3 meses.
El segundo punto más importante: estamos clasificando dirección, pero no magnitud. Un modelo que predice que el oro sube le da el mismo peso a una subida del 0.1% que a una del 3%. La solución natural es pasar a regresión sobre retornos esperados, lo que también permitiría dimensionar el tamaño de posición dinámicamente.
La integración con MetaTrader 5 ya es técnicamente posible — la API de Python para MT5 existe y ya la hemos utilizado en el proyecto. Solo falta conectarla con este pipeline.
En resumen: tenemos una base sólida, un enfoque validado, y un roadmap claro. Eso es exactamente lo que necesita un proyecto para llegar a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0" y="0"/>
            <a:ext cx="9144000" cy="5143500"/>
          </a:xfrm>
          <a:prstGeom prst="rect">
            <a:avLst/>
          </a:prstGeom>
          <a:solidFill>
            <a:srgbClr val="0D1117"/>
          </a:solidFill>
          <a:ln w="12700">
            <a:solidFill>
              <a:srgbClr val="0D1117"/>
            </a:solidFill>
            <a:prstDash val="solid"/>
          </a:ln>
        </p:spPr>
        <p:txBody>
          <a:bodyPr/>
          <a:p>
            <a:endParaRPr lang="es-ES" altLang="en-US"/>
          </a:p>
        </p:txBody>
      </p:sp>
      <p:sp>
        <p:nvSpPr>
          <p:cNvPr id="4" name="Shape 2"/>
          <p:cNvSpPr/>
          <p:nvPr/>
        </p:nvSpPr>
        <p:spPr>
          <a:xfrm>
            <a:off x="0" y="0"/>
            <a:ext cx="50292" cy="5143500"/>
          </a:xfrm>
          <a:prstGeom prst="rect">
            <a:avLst/>
          </a:prstGeom>
          <a:solidFill>
            <a:srgbClr val="F59E0B"/>
          </a:solidFill>
          <a:ln w="12700">
            <a:solidFill>
              <a:srgbClr val="F59E0B"/>
            </a:solidFill>
            <a:prstDash val="solid"/>
          </a:ln>
        </p:spPr>
      </p:sp>
      <p:sp>
        <p:nvSpPr>
          <p:cNvPr id="5" name="Text 3"/>
          <p:cNvSpPr/>
          <p:nvPr/>
        </p:nvSpPr>
        <p:spPr>
          <a:xfrm>
            <a:off x="274320" y="502920"/>
            <a:ext cx="8595360" cy="365760"/>
          </a:xfrm>
          <a:prstGeom prst="rect">
            <a:avLst/>
          </a:prstGeom>
          <a:noFill/>
        </p:spPr>
        <p:txBody>
          <a:bodyPr wrap="square" lIns="0" tIns="0" rIns="0" bIns="0" rtlCol="0" anchor="ctr"/>
          <a:lstStyle/>
          <a:p>
            <a:pPr marL="0" indent="0">
              <a:buNone/>
            </a:pPr>
            <a:endParaRPr lang="en-US" sz="1400" dirty="0"/>
          </a:p>
        </p:txBody>
      </p:sp>
      <p:sp>
        <p:nvSpPr>
          <p:cNvPr id="6" name="Text 4"/>
          <p:cNvSpPr/>
          <p:nvPr/>
        </p:nvSpPr>
        <p:spPr>
          <a:xfrm>
            <a:off x="274320" y="960120"/>
            <a:ext cx="8595360" cy="1280160"/>
          </a:xfrm>
          <a:prstGeom prst="rect">
            <a:avLst/>
          </a:prstGeom>
          <a:noFill/>
        </p:spPr>
        <p:txBody>
          <a:bodyPr wrap="square" lIns="0" tIns="0" rIns="0" bIns="0" rtlCol="0" anchor="ctr"/>
          <a:lstStyle/>
          <a:p>
            <a:pPr marL="0" indent="0">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XAUUSD · Machine Learning</a:t>
            </a:r>
            <a:endParaRPr lang="en-US" sz="3800" dirty="0"/>
          </a:p>
          <a:p>
            <a:pPr marL="0" indent="0">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Decision Support System</a:t>
            </a:r>
            <a:endParaRPr lang="en-US" sz="3800" dirty="0"/>
          </a:p>
        </p:txBody>
      </p:sp>
      <p:sp>
        <p:nvSpPr>
          <p:cNvPr id="7" name="Text 5"/>
          <p:cNvSpPr/>
          <p:nvPr/>
        </p:nvSpPr>
        <p:spPr>
          <a:xfrm>
            <a:off x="274320" y="2331720"/>
            <a:ext cx="8595360" cy="365760"/>
          </a:xfrm>
          <a:prstGeom prst="rect">
            <a:avLst/>
          </a:prstGeom>
          <a:noFill/>
        </p:spPr>
        <p:txBody>
          <a:bodyPr wrap="square" lIns="0" tIns="0" rIns="0" bIns="0" rtlCol="0" anchor="ctr"/>
          <a:lstStyle/>
          <a:p>
            <a:pPr marL="0" indent="0">
              <a:buNone/>
            </a:pPr>
            <a:r>
              <a:rPr lang="en-US" sz="1400" dirty="0">
                <a:solidFill>
                  <a:srgbClr val="94A3B8"/>
                </a:solidFill>
                <a:latin typeface="Calibri" panose="020F0502020204030204" pitchFamily="34" charset="0"/>
                <a:ea typeface="Calibri" panose="020F0502020204030204" pitchFamily="34" charset="-122"/>
                <a:cs typeface="Calibri" panose="020F0502020204030204" pitchFamily="34" charset="-120"/>
              </a:rPr>
              <a:t>XGBoost · LightGBM · RandomForest · SVM · LogReg · KNN · KMeans</a:t>
            </a:r>
            <a:endParaRPr lang="en-US" sz="1400" dirty="0"/>
          </a:p>
        </p:txBody>
      </p:sp>
      <p:sp>
        <p:nvSpPr>
          <p:cNvPr id="8" name="Shape 6"/>
          <p:cNvSpPr/>
          <p:nvPr/>
        </p:nvSpPr>
        <p:spPr>
          <a:xfrm>
            <a:off x="274320" y="2834640"/>
            <a:ext cx="8412480" cy="27432"/>
          </a:xfrm>
          <a:prstGeom prst="rect">
            <a:avLst/>
          </a:prstGeom>
          <a:solidFill>
            <a:srgbClr val="1E3A5A"/>
          </a:solidFill>
          <a:ln w="12700">
            <a:solidFill>
              <a:srgbClr val="1E3A5A"/>
            </a:solidFill>
            <a:prstDash val="solid"/>
          </a:ln>
        </p:spPr>
      </p:sp>
      <p:sp>
        <p:nvSpPr>
          <p:cNvPr id="9" name="Shape 7"/>
          <p:cNvSpPr/>
          <p:nvPr/>
        </p:nvSpPr>
        <p:spPr>
          <a:xfrm>
            <a:off x="274320" y="2971800"/>
            <a:ext cx="1600200" cy="411480"/>
          </a:xfrm>
          <a:prstGeom prst="rect">
            <a:avLst/>
          </a:prstGeom>
          <a:solidFill>
            <a:srgbClr val="131D2E"/>
          </a:solidFill>
          <a:ln w="12700">
            <a:solidFill>
              <a:srgbClr val="0EA5E9"/>
            </a:solidFill>
            <a:prstDash val="solid"/>
          </a:ln>
        </p:spPr>
      </p:sp>
      <p:sp>
        <p:nvSpPr>
          <p:cNvPr id="10" name="Text 8"/>
          <p:cNvSpPr/>
          <p:nvPr/>
        </p:nvSpPr>
        <p:spPr>
          <a:xfrm>
            <a:off x="274320" y="2971800"/>
            <a:ext cx="1600200" cy="411480"/>
          </a:xfrm>
          <a:prstGeom prst="rect">
            <a:avLst/>
          </a:prstGeom>
          <a:noFill/>
        </p:spPr>
        <p:txBody>
          <a:bodyPr wrap="square" lIns="0" tIns="0" rIns="0" bIns="0" rtlCol="0" anchor="ctr"/>
          <a:lstStyle/>
          <a:p>
            <a:pPr marL="0" indent="0" algn="ctr">
              <a:buNone/>
            </a:pPr>
            <a:r>
              <a:rPr lang="en-US" sz="1200" b="1" dirty="0">
                <a:solidFill>
                  <a:srgbClr val="0EA5E9"/>
                </a:solidFill>
                <a:latin typeface="Calibri" panose="020F0502020204030204" pitchFamily="34" charset="0"/>
                <a:ea typeface="Calibri" panose="020F0502020204030204" pitchFamily="34" charset="-122"/>
                <a:cs typeface="Calibri" panose="020F0502020204030204" pitchFamily="34" charset="-120"/>
              </a:rPr>
              <a:t>~163.000 registros</a:t>
            </a:r>
            <a:endParaRPr lang="en-US" sz="1200" dirty="0"/>
          </a:p>
        </p:txBody>
      </p:sp>
      <p:sp>
        <p:nvSpPr>
          <p:cNvPr id="11" name="Shape 9"/>
          <p:cNvSpPr/>
          <p:nvPr/>
        </p:nvSpPr>
        <p:spPr>
          <a:xfrm>
            <a:off x="1984248" y="2971800"/>
            <a:ext cx="1600200" cy="411480"/>
          </a:xfrm>
          <a:prstGeom prst="rect">
            <a:avLst/>
          </a:prstGeom>
          <a:solidFill>
            <a:srgbClr val="131D2E"/>
          </a:solidFill>
          <a:ln w="12700">
            <a:solidFill>
              <a:srgbClr val="F59E0B"/>
            </a:solidFill>
            <a:prstDash val="solid"/>
          </a:ln>
        </p:spPr>
      </p:sp>
      <p:sp>
        <p:nvSpPr>
          <p:cNvPr id="12" name="Text 10"/>
          <p:cNvSpPr/>
          <p:nvPr/>
        </p:nvSpPr>
        <p:spPr>
          <a:xfrm>
            <a:off x="1984248" y="2971800"/>
            <a:ext cx="1600200" cy="411480"/>
          </a:xfrm>
          <a:prstGeom prst="rect">
            <a:avLst/>
          </a:prstGeom>
          <a:noFill/>
        </p:spPr>
        <p:txBody>
          <a:bodyPr wrap="square" lIns="0" tIns="0" rIns="0" bIns="0" rtlCol="0" anchor="ctr"/>
          <a:lstStyle/>
          <a:p>
            <a:pPr marL="0" indent="0" algn="ctr">
              <a:buNone/>
            </a:pPr>
            <a:r>
              <a:rPr lang="en-US" sz="1200" b="1" dirty="0">
                <a:solidFill>
                  <a:srgbClr val="F59E0B"/>
                </a:solidFill>
                <a:latin typeface="Calibri" panose="020F0502020204030204" pitchFamily="34" charset="0"/>
                <a:ea typeface="Calibri" panose="020F0502020204030204" pitchFamily="34" charset="-122"/>
                <a:cs typeface="Calibri" panose="020F0502020204030204" pitchFamily="34" charset="-120"/>
              </a:rPr>
              <a:t>3 Timeframes</a:t>
            </a:r>
            <a:endParaRPr lang="en-US" sz="1200" dirty="0"/>
          </a:p>
        </p:txBody>
      </p:sp>
      <p:sp>
        <p:nvSpPr>
          <p:cNvPr id="13" name="Shape 11"/>
          <p:cNvSpPr/>
          <p:nvPr/>
        </p:nvSpPr>
        <p:spPr>
          <a:xfrm>
            <a:off x="3694176" y="2971800"/>
            <a:ext cx="1600200" cy="411480"/>
          </a:xfrm>
          <a:prstGeom prst="rect">
            <a:avLst/>
          </a:prstGeom>
          <a:solidFill>
            <a:srgbClr val="131D2E"/>
          </a:solidFill>
          <a:ln w="12700">
            <a:solidFill>
              <a:srgbClr val="10B981"/>
            </a:solidFill>
            <a:prstDash val="solid"/>
          </a:ln>
        </p:spPr>
      </p:sp>
      <p:sp>
        <p:nvSpPr>
          <p:cNvPr id="14" name="Text 12"/>
          <p:cNvSpPr/>
          <p:nvPr/>
        </p:nvSpPr>
        <p:spPr>
          <a:xfrm>
            <a:off x="3694176" y="2971800"/>
            <a:ext cx="1600200" cy="411480"/>
          </a:xfrm>
          <a:prstGeom prst="rect">
            <a:avLst/>
          </a:prstGeom>
          <a:noFill/>
        </p:spPr>
        <p:txBody>
          <a:bodyPr wrap="square" lIns="0" tIns="0" rIns="0" bIns="0" rtlCol="0" anchor="ctr"/>
          <a:lstStyle/>
          <a:p>
            <a:pPr marL="0" indent="0" algn="ctr">
              <a:buNone/>
            </a:pPr>
            <a:r>
              <a:rPr lang="en-US" sz="1200" b="1" dirty="0">
                <a:solidFill>
                  <a:srgbClr val="10B981"/>
                </a:solidFill>
                <a:latin typeface="Calibri" panose="020F0502020204030204" pitchFamily="34" charset="0"/>
                <a:ea typeface="Calibri" panose="020F0502020204030204" pitchFamily="34" charset="-122"/>
                <a:cs typeface="Calibri" panose="020F0502020204030204" pitchFamily="34" charset="-120"/>
              </a:rPr>
              <a:t>60+ Features</a:t>
            </a:r>
            <a:endParaRPr lang="en-US" sz="1200" dirty="0"/>
          </a:p>
        </p:txBody>
      </p:sp>
      <p:sp>
        <p:nvSpPr>
          <p:cNvPr id="15" name="Shape 13"/>
          <p:cNvSpPr/>
          <p:nvPr/>
        </p:nvSpPr>
        <p:spPr>
          <a:xfrm>
            <a:off x="5404104" y="2971800"/>
            <a:ext cx="1600200" cy="411480"/>
          </a:xfrm>
          <a:prstGeom prst="rect">
            <a:avLst/>
          </a:prstGeom>
          <a:solidFill>
            <a:srgbClr val="131D2E"/>
          </a:solidFill>
          <a:ln w="12700">
            <a:solidFill>
              <a:srgbClr val="F59E0B"/>
            </a:solidFill>
            <a:prstDash val="solid"/>
          </a:ln>
        </p:spPr>
      </p:sp>
      <p:sp>
        <p:nvSpPr>
          <p:cNvPr id="16" name="Text 14"/>
          <p:cNvSpPr/>
          <p:nvPr/>
        </p:nvSpPr>
        <p:spPr>
          <a:xfrm>
            <a:off x="5404104" y="2971800"/>
            <a:ext cx="1600200" cy="411480"/>
          </a:xfrm>
          <a:prstGeom prst="rect">
            <a:avLst/>
          </a:prstGeom>
          <a:noFill/>
        </p:spPr>
        <p:txBody>
          <a:bodyPr wrap="square" lIns="0" tIns="0" rIns="0" bIns="0" rtlCol="0" anchor="ctr"/>
          <a:lstStyle/>
          <a:p>
            <a:pPr marL="0" indent="0" algn="ctr">
              <a:buNone/>
            </a:pPr>
            <a:r>
              <a:rPr lang="en-US" sz="1200" b="1" dirty="0">
                <a:solidFill>
                  <a:srgbClr val="F59E0B"/>
                </a:solidFill>
                <a:latin typeface="Calibri" panose="020F0502020204030204" pitchFamily="34" charset="0"/>
                <a:ea typeface="Calibri" panose="020F0502020204030204" pitchFamily="34" charset="-122"/>
                <a:cs typeface="Calibri" panose="020F0502020204030204" pitchFamily="34" charset="-120"/>
              </a:rPr>
              <a:t>7 Modelos</a:t>
            </a:r>
            <a:endParaRPr lang="en-US" sz="1200" dirty="0"/>
          </a:p>
        </p:txBody>
      </p:sp>
      <p:sp>
        <p:nvSpPr>
          <p:cNvPr id="17" name="Shape 15"/>
          <p:cNvSpPr/>
          <p:nvPr/>
        </p:nvSpPr>
        <p:spPr>
          <a:xfrm>
            <a:off x="7114032" y="2971800"/>
            <a:ext cx="1600200" cy="411480"/>
          </a:xfrm>
          <a:prstGeom prst="rect">
            <a:avLst/>
          </a:prstGeom>
          <a:solidFill>
            <a:srgbClr val="131D2E"/>
          </a:solidFill>
          <a:ln w="12700">
            <a:solidFill>
              <a:srgbClr val="0EA5E9"/>
            </a:solidFill>
            <a:prstDash val="solid"/>
          </a:ln>
        </p:spPr>
      </p:sp>
      <p:sp>
        <p:nvSpPr>
          <p:cNvPr id="18" name="Text 16"/>
          <p:cNvSpPr/>
          <p:nvPr/>
        </p:nvSpPr>
        <p:spPr>
          <a:xfrm>
            <a:off x="7114032" y="2971800"/>
            <a:ext cx="1600200" cy="411480"/>
          </a:xfrm>
          <a:prstGeom prst="rect">
            <a:avLst/>
          </a:prstGeom>
          <a:noFill/>
        </p:spPr>
        <p:txBody>
          <a:bodyPr wrap="square" lIns="0" tIns="0" rIns="0" bIns="0" rtlCol="0" anchor="ctr"/>
          <a:lstStyle/>
          <a:p>
            <a:pPr marL="0" indent="0" algn="ctr">
              <a:buNone/>
            </a:pPr>
            <a:r>
              <a:rPr lang="en-US" sz="1200" b="1" dirty="0">
                <a:solidFill>
                  <a:srgbClr val="0EA5E9"/>
                </a:solidFill>
                <a:latin typeface="Calibri" panose="020F0502020204030204" pitchFamily="34" charset="0"/>
                <a:ea typeface="Calibri" panose="020F0502020204030204" pitchFamily="34" charset="-122"/>
                <a:cs typeface="Calibri" panose="020F0502020204030204" pitchFamily="34" charset="-120"/>
              </a:rPr>
              <a:t>GridSearchCV</a:t>
            </a:r>
            <a:endParaRPr lang="en-US" sz="1200" dirty="0"/>
          </a:p>
        </p:txBody>
      </p:sp>
      <p:sp>
        <p:nvSpPr>
          <p:cNvPr id="19" name="Text 17"/>
          <p:cNvSpPr/>
          <p:nvPr/>
        </p:nvSpPr>
        <p:spPr>
          <a:xfrm>
            <a:off x="274320" y="4663440"/>
            <a:ext cx="8595360" cy="274320"/>
          </a:xfrm>
          <a:prstGeom prst="rect">
            <a:avLst/>
          </a:prstGeom>
          <a:noFill/>
        </p:spPr>
        <p:txBody>
          <a:bodyPr wrap="square" lIns="0" tIns="0" rIns="0" bIns="0"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Alexsandro · Bootcamp Data Science · Madrid 202</a:t>
            </a:r>
            <a:r>
              <a:rPr lang="es-ES" alt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6</a:t>
            </a:r>
            <a:endParaRPr lang="es-ES" alt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Text 1"/>
          <p:cNvSpPr/>
          <p:nvPr/>
        </p:nvSpPr>
        <p:spPr>
          <a:xfrm>
            <a:off x="274320" y="164592"/>
            <a:ext cx="8595360" cy="530352"/>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 · Dataset y Features</a:t>
            </a:r>
            <a:endParaRPr lang="en-US" sz="2800" dirty="0"/>
          </a:p>
        </p:txBody>
      </p:sp>
      <p:sp>
        <p:nvSpPr>
          <p:cNvPr id="4" name="Text 2"/>
          <p:cNvSpPr/>
          <p:nvPr/>
        </p:nvSpPr>
        <p:spPr>
          <a:xfrm>
            <a:off x="274320" y="713232"/>
            <a:ext cx="8595360" cy="292608"/>
          </a:xfrm>
          <a:prstGeom prst="rect">
            <a:avLst/>
          </a:prstGeom>
          <a:noFill/>
        </p:spPr>
        <p:txBody>
          <a:bodyPr wrap="square" lIns="0" tIns="0" rIns="0" bIns="0" rtlCol="0" anchor="ctr"/>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XAUUSD 2004–2025 · </a:t>
            </a:r>
            <a:r>
              <a:rPr lang="es-ES" alt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Kaggle</a:t>
            </a: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 · 163.000+ registros</a:t>
            </a:r>
            <a:endParaRPr lang="en-US" sz="1300" dirty="0"/>
          </a:p>
        </p:txBody>
      </p:sp>
      <p:sp>
        <p:nvSpPr>
          <p:cNvPr id="5" name="Shape 3"/>
          <p:cNvSpPr/>
          <p:nvPr/>
        </p:nvSpPr>
        <p:spPr>
          <a:xfrm>
            <a:off x="205105" y="1024255"/>
            <a:ext cx="4107180" cy="3840480"/>
          </a:xfrm>
          <a:prstGeom prst="rect">
            <a:avLst/>
          </a:prstGeom>
          <a:solidFill>
            <a:srgbClr val="131D2E"/>
          </a:solidFill>
          <a:ln w="12700">
            <a:solidFill>
              <a:srgbClr val="0EA5E9"/>
            </a:solidFill>
            <a:prstDash val="solid"/>
          </a:ln>
          <a:effectLst>
            <a:outerShdw blurRad="76200" dist="38100" dir="8100000" algn="bl" rotWithShape="0">
              <a:srgbClr val="000000">
                <a:alpha val="30000"/>
              </a:srgbClr>
            </a:outerShdw>
          </a:effectLst>
        </p:spPr>
      </p:sp>
      <p:sp>
        <p:nvSpPr>
          <p:cNvPr id="6" name="Text 4"/>
          <p:cNvSpPr/>
          <p:nvPr/>
        </p:nvSpPr>
        <p:spPr>
          <a:xfrm>
            <a:off x="457200" y="1170432"/>
            <a:ext cx="3657600" cy="347472"/>
          </a:xfrm>
          <a:prstGeom prst="rect">
            <a:avLst/>
          </a:prstGeom>
          <a:noFill/>
        </p:spPr>
        <p:txBody>
          <a:bodyPr wrap="square" lIns="0" tIns="0" rIns="0" bIns="0" rtlCol="0" anchor="ctr"/>
          <a:lstStyle/>
          <a:p>
            <a:pPr marL="0" indent="0">
              <a:buNone/>
            </a:pPr>
            <a:r>
              <a:rPr lang="en-US" sz="1600" b="1" dirty="0">
                <a:solidFill>
                  <a:srgbClr val="0EA5E9"/>
                </a:solidFill>
                <a:latin typeface="Calibri" panose="020F0502020204030204" pitchFamily="34" charset="0"/>
                <a:ea typeface="Calibri" panose="020F0502020204030204" pitchFamily="34" charset="-122"/>
                <a:cs typeface="Calibri" panose="020F0502020204030204" pitchFamily="34" charset="-120"/>
              </a:rPr>
              <a:t>Datos</a:t>
            </a:r>
            <a:endParaRPr lang="en-US" sz="1600" dirty="0"/>
          </a:p>
        </p:txBody>
      </p:sp>
      <p:sp>
        <p:nvSpPr>
          <p:cNvPr id="7" name="Text 5"/>
          <p:cNvSpPr/>
          <p:nvPr/>
        </p:nvSpPr>
        <p:spPr>
          <a:xfrm>
            <a:off x="457200" y="1572768"/>
            <a:ext cx="3657600" cy="3108960"/>
          </a:xfrm>
          <a:prstGeom prst="rect">
            <a:avLst/>
          </a:prstGeom>
          <a:noFill/>
        </p:spPr>
        <p:txBody>
          <a:bodyPr wrap="square" rtlCol="0" anchor="t"/>
          <a:lstStyle/>
          <a:p>
            <a:pPr marL="152400" indent="-1524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2004 → 2025  (20 años)</a:t>
            </a:r>
            <a:endParaRPr lang="en-US" sz="1200" dirty="0"/>
          </a:p>
          <a:p>
            <a:pPr marL="152400" indent="-152400">
              <a:spcAft>
                <a:spcPts val="800"/>
              </a:spcAft>
              <a:buSzPct val="100000"/>
              <a:buChar char="•"/>
            </a:pPr>
            <a:endPar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152400" indent="-1524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H1 · 124.887 velas</a:t>
            </a:r>
            <a:endParaRPr lang="en-US" sz="1200" dirty="0"/>
          </a:p>
          <a:p>
            <a:pPr marL="152400" indent="-1524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H4 ·  32.876 velas</a:t>
            </a:r>
            <a:endParaRPr lang="en-US" sz="1200" dirty="0"/>
          </a:p>
          <a:p>
            <a:pPr marL="152400" indent="-1524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D1 ·   5.516 velas</a:t>
            </a:r>
            <a:endParaRPr lang="en-US" sz="1200" dirty="0"/>
          </a:p>
          <a:p>
            <a:pPr marL="152400" indent="-1524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Fuente: </a:t>
            </a:r>
            <a:r>
              <a:rPr lang="es-ES" alt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Kaggle</a:t>
            </a:r>
            <a:endParaRPr lang="en-US" sz="1200" dirty="0"/>
          </a:p>
          <a:p>
            <a:pPr marL="152400" indent="-1524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Split temporal: 80% train / 20% test</a:t>
            </a:r>
            <a:endParaRPr lang="en-US" sz="1200" dirty="0"/>
          </a:p>
          <a:p>
            <a:pPr marL="152400" indent="-1524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TimeSeriesSplit — sin data leakage</a:t>
            </a:r>
            <a:endParaRPr lang="en-US" sz="1200" dirty="0"/>
          </a:p>
        </p:txBody>
      </p:sp>
      <p:sp>
        <p:nvSpPr>
          <p:cNvPr id="8" name="Shape 6"/>
          <p:cNvSpPr/>
          <p:nvPr/>
        </p:nvSpPr>
        <p:spPr>
          <a:xfrm>
            <a:off x="4480560" y="1051560"/>
            <a:ext cx="4434840" cy="3840480"/>
          </a:xfrm>
          <a:prstGeom prst="rect">
            <a:avLst/>
          </a:prstGeom>
          <a:solidFill>
            <a:srgbClr val="131D2E"/>
          </a:solidFill>
          <a:ln w="12700">
            <a:solidFill>
              <a:srgbClr val="F59E0B"/>
            </a:solidFill>
            <a:prstDash val="solid"/>
          </a:ln>
          <a:effectLst>
            <a:outerShdw blurRad="76200" dist="38100" dir="8100000" algn="bl" rotWithShape="0">
              <a:srgbClr val="000000">
                <a:alpha val="30000"/>
              </a:srgbClr>
            </a:outerShdw>
          </a:effectLst>
        </p:spPr>
      </p:sp>
      <p:sp>
        <p:nvSpPr>
          <p:cNvPr id="9" name="Text 7"/>
          <p:cNvSpPr/>
          <p:nvPr/>
        </p:nvSpPr>
        <p:spPr>
          <a:xfrm>
            <a:off x="4663440" y="1170432"/>
            <a:ext cx="4023360" cy="347472"/>
          </a:xfrm>
          <a:prstGeom prst="rect">
            <a:avLst/>
          </a:prstGeom>
          <a:noFill/>
        </p:spPr>
        <p:txBody>
          <a:bodyPr wrap="square" lIns="0" tIns="0" rIns="0" bIns="0" rtlCol="0" anchor="ctr"/>
          <a:lstStyle/>
          <a:p>
            <a:pPr marL="0" indent="0">
              <a:buNone/>
            </a:pPr>
            <a:r>
              <a:rPr lang="en-US" sz="1600" b="1" dirty="0">
                <a:solidFill>
                  <a:srgbClr val="F59E0B"/>
                </a:solidFill>
                <a:latin typeface="Calibri" panose="020F0502020204030204" pitchFamily="34" charset="0"/>
                <a:ea typeface="Calibri" panose="020F0502020204030204" pitchFamily="34" charset="-122"/>
                <a:cs typeface="Calibri" panose="020F0502020204030204" pitchFamily="34" charset="-120"/>
              </a:rPr>
              <a:t>60+ Features</a:t>
            </a:r>
            <a:endParaRPr lang="en-US" sz="1600" dirty="0"/>
          </a:p>
        </p:txBody>
      </p:sp>
      <p:sp>
        <p:nvSpPr>
          <p:cNvPr id="10" name="Text 8"/>
          <p:cNvSpPr/>
          <p:nvPr/>
        </p:nvSpPr>
        <p:spPr>
          <a:xfrm>
            <a:off x="4663440" y="1600200"/>
            <a:ext cx="4114800" cy="22860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EMA 13/45/20/50</a:t>
            </a:r>
            <a:endParaRPr lang="en-US" sz="1200" dirty="0"/>
          </a:p>
        </p:txBody>
      </p:sp>
      <p:sp>
        <p:nvSpPr>
          <p:cNvPr id="11" name="Text 9"/>
          <p:cNvSpPr/>
          <p:nvPr/>
        </p:nvSpPr>
        <p:spPr>
          <a:xfrm>
            <a:off x="4663440" y="1810512"/>
            <a:ext cx="4114800" cy="182880"/>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Filtro tendencia adaptativo</a:t>
            </a:r>
            <a:endParaRPr lang="en-US" sz="1000" dirty="0"/>
          </a:p>
        </p:txBody>
      </p:sp>
      <p:sp>
        <p:nvSpPr>
          <p:cNvPr id="12" name="Text 10"/>
          <p:cNvSpPr/>
          <p:nvPr/>
        </p:nvSpPr>
        <p:spPr>
          <a:xfrm>
            <a:off x="4663440" y="2057400"/>
            <a:ext cx="4114800" cy="22860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ATR (14)</a:t>
            </a:r>
            <a:endParaRPr lang="en-US" sz="1200" dirty="0"/>
          </a:p>
        </p:txBody>
      </p:sp>
      <p:sp>
        <p:nvSpPr>
          <p:cNvPr id="13" name="Text 11"/>
          <p:cNvSpPr/>
          <p:nvPr/>
        </p:nvSpPr>
        <p:spPr>
          <a:xfrm>
            <a:off x="4663440" y="2267712"/>
            <a:ext cx="4114800" cy="182880"/>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Volatilidad relativa</a:t>
            </a:r>
            <a:endParaRPr lang="en-US" sz="1000" dirty="0"/>
          </a:p>
        </p:txBody>
      </p:sp>
      <p:sp>
        <p:nvSpPr>
          <p:cNvPr id="14" name="Text 12"/>
          <p:cNvSpPr/>
          <p:nvPr/>
        </p:nvSpPr>
        <p:spPr>
          <a:xfrm>
            <a:off x="4663440" y="2514600"/>
            <a:ext cx="4114800" cy="22860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RSI (14/7)</a:t>
            </a:r>
            <a:endParaRPr lang="en-US" sz="1200" dirty="0"/>
          </a:p>
        </p:txBody>
      </p:sp>
      <p:sp>
        <p:nvSpPr>
          <p:cNvPr id="15" name="Text 13"/>
          <p:cNvSpPr/>
          <p:nvPr/>
        </p:nvSpPr>
        <p:spPr>
          <a:xfrm>
            <a:off x="4663440" y="2724912"/>
            <a:ext cx="4114800" cy="182880"/>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Momentum oscilador</a:t>
            </a:r>
            <a:endParaRPr lang="en-US" sz="1000" dirty="0"/>
          </a:p>
        </p:txBody>
      </p:sp>
      <p:sp>
        <p:nvSpPr>
          <p:cNvPr id="16" name="Text 14"/>
          <p:cNvSpPr/>
          <p:nvPr/>
        </p:nvSpPr>
        <p:spPr>
          <a:xfrm>
            <a:off x="4663440" y="2971800"/>
            <a:ext cx="4114800" cy="22860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MACD</a:t>
            </a:r>
            <a:endParaRPr lang="en-US" sz="1200" dirty="0"/>
          </a:p>
        </p:txBody>
      </p:sp>
      <p:sp>
        <p:nvSpPr>
          <p:cNvPr id="17" name="Text 15"/>
          <p:cNvSpPr/>
          <p:nvPr/>
        </p:nvSpPr>
        <p:spPr>
          <a:xfrm>
            <a:off x="4663440" y="3182112"/>
            <a:ext cx="4114800" cy="182880"/>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Tendencia + momentum</a:t>
            </a:r>
            <a:endParaRPr lang="en-US" sz="1000" dirty="0"/>
          </a:p>
        </p:txBody>
      </p:sp>
      <p:sp>
        <p:nvSpPr>
          <p:cNvPr id="18" name="Text 16"/>
          <p:cNvSpPr/>
          <p:nvPr/>
        </p:nvSpPr>
        <p:spPr>
          <a:xfrm>
            <a:off x="4663440" y="3429000"/>
            <a:ext cx="4114800" cy="22860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ADX</a:t>
            </a:r>
            <a:endParaRPr lang="en-US" sz="1200" dirty="0"/>
          </a:p>
        </p:txBody>
      </p:sp>
      <p:sp>
        <p:nvSpPr>
          <p:cNvPr id="19" name="Text 17"/>
          <p:cNvSpPr/>
          <p:nvPr/>
        </p:nvSpPr>
        <p:spPr>
          <a:xfrm>
            <a:off x="4663440" y="3639312"/>
            <a:ext cx="4114800" cy="182880"/>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Fuerza de tendencia</a:t>
            </a:r>
            <a:endParaRPr lang="en-US" sz="1000" dirty="0"/>
          </a:p>
        </p:txBody>
      </p:sp>
      <p:sp>
        <p:nvSpPr>
          <p:cNvPr id="20" name="Text 18"/>
          <p:cNvSpPr/>
          <p:nvPr/>
        </p:nvSpPr>
        <p:spPr>
          <a:xfrm>
            <a:off x="4663440" y="3886200"/>
            <a:ext cx="4114800" cy="22860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DXY x4</a:t>
            </a:r>
            <a:endParaRPr lang="en-US" sz="1200" dirty="0"/>
          </a:p>
        </p:txBody>
      </p:sp>
      <p:sp>
        <p:nvSpPr>
          <p:cNvPr id="21" name="Text 19"/>
          <p:cNvSpPr/>
          <p:nvPr/>
        </p:nvSpPr>
        <p:spPr>
          <a:xfrm>
            <a:off x="4663440" y="4096512"/>
            <a:ext cx="4114800" cy="182880"/>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Macro: retorno · momentum · spread · corr</a:t>
            </a:r>
            <a:endParaRPr lang="en-US" sz="1000" dirty="0"/>
          </a:p>
        </p:txBody>
      </p:sp>
      <p:sp>
        <p:nvSpPr>
          <p:cNvPr id="22" name="Text 20"/>
          <p:cNvSpPr/>
          <p:nvPr/>
        </p:nvSpPr>
        <p:spPr>
          <a:xfrm>
            <a:off x="4663440" y="4343400"/>
            <a:ext cx="4114800" cy="22860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KMeans</a:t>
            </a:r>
            <a:endParaRPr lang="en-US" sz="1200" dirty="0"/>
          </a:p>
        </p:txBody>
      </p:sp>
      <p:sp>
        <p:nvSpPr>
          <p:cNvPr id="23" name="Text 21"/>
          <p:cNvSpPr/>
          <p:nvPr/>
        </p:nvSpPr>
        <p:spPr>
          <a:xfrm>
            <a:off x="4663440" y="4553712"/>
            <a:ext cx="4114800" cy="182880"/>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Régimen de mercado</a:t>
            </a:r>
            <a:endParaRPr lang="en-US" sz="1000" dirty="0"/>
          </a:p>
        </p:txBody>
      </p:sp>
      <p:pic>
        <p:nvPicPr>
          <p:cNvPr id="24" name="Image 0" descr="/home/claude/price_series.png"/>
          <p:cNvPicPr>
            <a:picLocks noChangeAspect="1"/>
          </p:cNvPicPr>
          <p:nvPr/>
        </p:nvPicPr>
        <p:blipFill>
          <a:blip r:embed="rId1"/>
          <a:stretch>
            <a:fillRect/>
          </a:stretch>
        </p:blipFill>
        <p:spPr>
          <a:xfrm>
            <a:off x="274320" y="1051560"/>
            <a:ext cx="4023360"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Text 1"/>
          <p:cNvSpPr/>
          <p:nvPr/>
        </p:nvSpPr>
        <p:spPr>
          <a:xfrm>
            <a:off x="274320" y="164592"/>
            <a:ext cx="8595360" cy="530352"/>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XAUUSD — Series Históricas 2004–2025</a:t>
            </a:r>
            <a:endParaRPr lang="en-US" sz="2800" dirty="0"/>
          </a:p>
        </p:txBody>
      </p:sp>
      <p:sp>
        <p:nvSpPr>
          <p:cNvPr id="4" name="Text 2"/>
          <p:cNvSpPr/>
          <p:nvPr/>
        </p:nvSpPr>
        <p:spPr>
          <a:xfrm>
            <a:off x="274320" y="713232"/>
            <a:ext cx="8595360" cy="292608"/>
          </a:xfrm>
          <a:prstGeom prst="rect">
            <a:avLst/>
          </a:prstGeom>
          <a:noFill/>
        </p:spPr>
        <p:txBody>
          <a:bodyPr wrap="square" lIns="0" tIns="0" rIns="0" bIns="0" rtlCol="0" anchor="ctr"/>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163.000+ registros · 3 timeframes</a:t>
            </a:r>
            <a:endParaRPr lang="en-US" sz="1300" dirty="0"/>
          </a:p>
        </p:txBody>
      </p:sp>
      <p:pic>
        <p:nvPicPr>
          <p:cNvPr id="5" name="Image 0" descr="/home/claude/price_series.png"/>
          <p:cNvPicPr>
            <a:picLocks noChangeAspect="1"/>
          </p:cNvPicPr>
          <p:nvPr/>
        </p:nvPicPr>
        <p:blipFill>
          <a:blip r:embed="rId1"/>
          <a:stretch>
            <a:fillRect/>
          </a:stretch>
        </p:blipFill>
        <p:spPr>
          <a:xfrm>
            <a:off x="274320" y="1005840"/>
            <a:ext cx="8641080" cy="3931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Text 1"/>
          <p:cNvSpPr/>
          <p:nvPr/>
        </p:nvSpPr>
        <p:spPr>
          <a:xfrm>
            <a:off x="274320" y="164592"/>
            <a:ext cx="8595360" cy="530352"/>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 · Detección de Régimen de Mercado</a:t>
            </a:r>
            <a:endParaRPr lang="en-US" sz="2800" dirty="0"/>
          </a:p>
        </p:txBody>
      </p:sp>
      <p:sp>
        <p:nvSpPr>
          <p:cNvPr id="4" name="Text 2"/>
          <p:cNvSpPr/>
          <p:nvPr/>
        </p:nvSpPr>
        <p:spPr>
          <a:xfrm>
            <a:off x="274320" y="713232"/>
            <a:ext cx="8595360" cy="292608"/>
          </a:xfrm>
          <a:prstGeom prst="rect">
            <a:avLst/>
          </a:prstGeom>
          <a:noFill/>
        </p:spPr>
        <p:txBody>
          <a:bodyPr wrap="square" lIns="0" tIns="0" rIns="0" bIns="0" rtlCol="0" anchor="ctr"/>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KMeans · Modelo no supervisado · Anti-leakage: ajustado solo en train</a:t>
            </a:r>
            <a:endParaRPr lang="en-US" sz="1300" dirty="0"/>
          </a:p>
        </p:txBody>
      </p:sp>
      <p:pic>
        <p:nvPicPr>
          <p:cNvPr id="5" name="Image 0" descr="/home/claude/kmeans_regimes.png"/>
          <p:cNvPicPr>
            <a:picLocks noChangeAspect="1"/>
          </p:cNvPicPr>
          <p:nvPr/>
        </p:nvPicPr>
        <p:blipFill>
          <a:blip r:embed="rId1"/>
          <a:stretch>
            <a:fillRect/>
          </a:stretch>
        </p:blipFill>
        <p:spPr>
          <a:xfrm>
            <a:off x="274320" y="960120"/>
            <a:ext cx="5669280" cy="3977640"/>
          </a:xfrm>
          <a:prstGeom prst="rect">
            <a:avLst/>
          </a:prstGeom>
        </p:spPr>
      </p:pic>
      <p:sp>
        <p:nvSpPr>
          <p:cNvPr id="6" name="Shape 3"/>
          <p:cNvSpPr/>
          <p:nvPr/>
        </p:nvSpPr>
        <p:spPr>
          <a:xfrm>
            <a:off x="6080760" y="960120"/>
            <a:ext cx="2834640" cy="1188720"/>
          </a:xfrm>
          <a:prstGeom prst="rect">
            <a:avLst/>
          </a:prstGeom>
          <a:solidFill>
            <a:srgbClr val="131D2E"/>
          </a:solidFill>
          <a:ln w="12700">
            <a:solidFill>
              <a:srgbClr val="0EA5E9"/>
            </a:solidFill>
            <a:prstDash val="solid"/>
          </a:ln>
          <a:effectLst>
            <a:outerShdw blurRad="76200" dist="38100" dir="8100000" algn="bl" rotWithShape="0">
              <a:srgbClr val="000000">
                <a:alpha val="30000"/>
              </a:srgbClr>
            </a:outerShdw>
          </a:effectLst>
        </p:spPr>
      </p:sp>
      <p:sp>
        <p:nvSpPr>
          <p:cNvPr id="7" name="Text 4"/>
          <p:cNvSpPr/>
          <p:nvPr/>
        </p:nvSpPr>
        <p:spPr>
          <a:xfrm>
            <a:off x="6263640" y="1069848"/>
            <a:ext cx="2468880" cy="320040"/>
          </a:xfrm>
          <a:prstGeom prst="rect">
            <a:avLst/>
          </a:prstGeom>
          <a:noFill/>
        </p:spPr>
        <p:txBody>
          <a:bodyPr wrap="square" lIns="0" tIns="0" rIns="0" bIns="0" rtlCol="0" anchor="ctr"/>
          <a:lstStyle/>
          <a:p>
            <a:pPr marL="0" indent="0">
              <a:buNone/>
            </a:pPr>
            <a:r>
              <a:rPr lang="en-US" sz="1400" b="1" dirty="0">
                <a:solidFill>
                  <a:srgbClr val="0EA5E9"/>
                </a:solidFill>
                <a:latin typeface="Calibri" panose="020F0502020204030204" pitchFamily="34" charset="0"/>
                <a:ea typeface="Calibri" panose="020F0502020204030204" pitchFamily="34" charset="-122"/>
                <a:cs typeface="Calibri" panose="020F0502020204030204" pitchFamily="34" charset="-120"/>
              </a:rPr>
              <a:t>🔵 Lateral</a:t>
            </a:r>
            <a:endParaRPr lang="en-US" sz="1400" dirty="0"/>
          </a:p>
        </p:txBody>
      </p:sp>
      <p:sp>
        <p:nvSpPr>
          <p:cNvPr id="8" name="Text 5"/>
          <p:cNvSpPr/>
          <p:nvPr/>
        </p:nvSpPr>
        <p:spPr>
          <a:xfrm>
            <a:off x="6263640" y="1371600"/>
            <a:ext cx="2468880" cy="320040"/>
          </a:xfrm>
          <a:prstGeom prst="rect">
            <a:avLst/>
          </a:prstGeom>
          <a:noFill/>
        </p:spPr>
        <p:txBody>
          <a:bodyPr wrap="square" lIns="0" tIns="0" rIns="0" bIns="0" rtlCol="0" anchor="ctr"/>
          <a:lstStyle/>
          <a:p>
            <a:pPr marL="0" indent="0" algn="ctr">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42.8%</a:t>
            </a:r>
            <a:endParaRPr lang="en-US" sz="2200" dirty="0"/>
          </a:p>
        </p:txBody>
      </p:sp>
      <p:sp>
        <p:nvSpPr>
          <p:cNvPr id="9" name="Text 6"/>
          <p:cNvSpPr/>
          <p:nvPr/>
        </p:nvSpPr>
        <p:spPr>
          <a:xfrm>
            <a:off x="6263640" y="1709928"/>
            <a:ext cx="2468880" cy="347472"/>
          </a:xfrm>
          <a:prstGeom prst="rect">
            <a:avLst/>
          </a:prstGeom>
          <a:noFill/>
        </p:spPr>
        <p:txBody>
          <a:bodyPr wrap="square" lIns="0" tIns="0" rIns="0" bIns="0" rtlCol="0" anchor="ctr"/>
          <a:lstStyle/>
          <a:p>
            <a:pPr marL="0" indent="0">
              <a:buNone/>
            </a:pPr>
            <a:r>
              <a:rPr lang="en-US" sz="950" dirty="0">
                <a:solidFill>
                  <a:srgbClr val="94A3B8"/>
                </a:solidFill>
                <a:latin typeface="Calibri" panose="020F0502020204030204" pitchFamily="34" charset="0"/>
                <a:ea typeface="Calibri" panose="020F0502020204030204" pitchFamily="34" charset="-122"/>
                <a:cs typeface="Calibri" panose="020F0502020204030204" pitchFamily="34" charset="-120"/>
              </a:rPr>
              <a:t>ATR bajo, sin dirección.</a:t>
            </a:r>
            <a:endParaRPr lang="en-US" sz="950" dirty="0"/>
          </a:p>
          <a:p>
            <a:pPr marL="0" indent="0">
              <a:buNone/>
            </a:pPr>
            <a:r>
              <a:rPr lang="en-US" sz="950" dirty="0">
                <a:solidFill>
                  <a:srgbClr val="94A3B8"/>
                </a:solidFill>
                <a:latin typeface="Calibri" panose="020F0502020204030204" pitchFamily="34" charset="0"/>
                <a:ea typeface="Calibri" panose="020F0502020204030204" pitchFamily="34" charset="-122"/>
                <a:cs typeface="Calibri" panose="020F0502020204030204" pitchFamily="34" charset="-120"/>
              </a:rPr>
              <a:t>No operar — ruido puro.</a:t>
            </a:r>
            <a:endParaRPr lang="en-US" sz="950" dirty="0"/>
          </a:p>
        </p:txBody>
      </p:sp>
      <p:sp>
        <p:nvSpPr>
          <p:cNvPr id="10" name="Shape 7"/>
          <p:cNvSpPr/>
          <p:nvPr/>
        </p:nvSpPr>
        <p:spPr>
          <a:xfrm>
            <a:off x="6080760" y="2286000"/>
            <a:ext cx="2834640" cy="1188720"/>
          </a:xfrm>
          <a:prstGeom prst="rect">
            <a:avLst/>
          </a:prstGeom>
          <a:solidFill>
            <a:srgbClr val="131D2E"/>
          </a:solidFill>
          <a:ln w="12700">
            <a:solidFill>
              <a:srgbClr val="10B981"/>
            </a:solidFill>
            <a:prstDash val="solid"/>
          </a:ln>
          <a:effectLst>
            <a:outerShdw blurRad="76200" dist="38100" dir="8100000" algn="bl" rotWithShape="0">
              <a:srgbClr val="000000">
                <a:alpha val="30000"/>
              </a:srgbClr>
            </a:outerShdw>
          </a:effectLst>
        </p:spPr>
      </p:sp>
      <p:sp>
        <p:nvSpPr>
          <p:cNvPr id="11" name="Text 8"/>
          <p:cNvSpPr/>
          <p:nvPr/>
        </p:nvSpPr>
        <p:spPr>
          <a:xfrm>
            <a:off x="6263640" y="2395728"/>
            <a:ext cx="2468880" cy="320040"/>
          </a:xfrm>
          <a:prstGeom prst="rect">
            <a:avLst/>
          </a:prstGeom>
          <a:noFill/>
        </p:spPr>
        <p:txBody>
          <a:bodyPr wrap="square" lIns="0" tIns="0" rIns="0" bIns="0" rtlCol="0" anchor="ctr"/>
          <a:lstStyle/>
          <a:p>
            <a:pPr marL="0" indent="0">
              <a:buNone/>
            </a:pPr>
            <a:r>
              <a:rPr lang="en-US" sz="1400" b="1" dirty="0">
                <a:solidFill>
                  <a:srgbClr val="10B981"/>
                </a:solidFill>
                <a:latin typeface="Calibri" panose="020F0502020204030204" pitchFamily="34" charset="0"/>
                <a:ea typeface="Calibri" panose="020F0502020204030204" pitchFamily="34" charset="-122"/>
                <a:cs typeface="Calibri" panose="020F0502020204030204" pitchFamily="34" charset="-120"/>
              </a:rPr>
              <a:t>🟢 Tendencia</a:t>
            </a:r>
            <a:endParaRPr lang="en-US" sz="1400" dirty="0"/>
          </a:p>
        </p:txBody>
      </p:sp>
      <p:sp>
        <p:nvSpPr>
          <p:cNvPr id="12" name="Text 9"/>
          <p:cNvSpPr/>
          <p:nvPr/>
        </p:nvSpPr>
        <p:spPr>
          <a:xfrm>
            <a:off x="6263640" y="2697480"/>
            <a:ext cx="2468880" cy="320040"/>
          </a:xfrm>
          <a:prstGeom prst="rect">
            <a:avLst/>
          </a:prstGeom>
          <a:noFill/>
        </p:spPr>
        <p:txBody>
          <a:bodyPr wrap="square" lIns="0" tIns="0" rIns="0" bIns="0" rtlCol="0" anchor="ctr"/>
          <a:lstStyle/>
          <a:p>
            <a:pPr marL="0" indent="0" algn="ctr">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50.1%</a:t>
            </a:r>
            <a:endParaRPr lang="en-US" sz="2200" dirty="0"/>
          </a:p>
        </p:txBody>
      </p:sp>
      <p:sp>
        <p:nvSpPr>
          <p:cNvPr id="13" name="Text 10"/>
          <p:cNvSpPr/>
          <p:nvPr/>
        </p:nvSpPr>
        <p:spPr>
          <a:xfrm>
            <a:off x="6263640" y="3035808"/>
            <a:ext cx="2468880" cy="347472"/>
          </a:xfrm>
          <a:prstGeom prst="rect">
            <a:avLst/>
          </a:prstGeom>
          <a:noFill/>
        </p:spPr>
        <p:txBody>
          <a:bodyPr wrap="square" lIns="0" tIns="0" rIns="0" bIns="0" rtlCol="0" anchor="ctr"/>
          <a:lstStyle/>
          <a:p>
            <a:pPr marL="0" indent="0">
              <a:buNone/>
            </a:pPr>
            <a:r>
              <a:rPr lang="en-US" sz="950" dirty="0">
                <a:solidFill>
                  <a:srgbClr val="94A3B8"/>
                </a:solidFill>
                <a:latin typeface="Calibri" panose="020F0502020204030204" pitchFamily="34" charset="0"/>
                <a:ea typeface="Calibri" panose="020F0502020204030204" pitchFamily="34" charset="-122"/>
                <a:cs typeface="Calibri" panose="020F0502020204030204" pitchFamily="34" charset="-120"/>
              </a:rPr>
              <a:t>ATR medio, EMAs divergentes.</a:t>
            </a:r>
            <a:endParaRPr lang="en-US" sz="950" dirty="0"/>
          </a:p>
          <a:p>
            <a:pPr marL="0" indent="0">
              <a:buNone/>
            </a:pPr>
            <a:r>
              <a:rPr lang="en-US" sz="950" dirty="0">
                <a:solidFill>
                  <a:srgbClr val="94A3B8"/>
                </a:solidFill>
                <a:latin typeface="Calibri" panose="020F0502020204030204" pitchFamily="34" charset="0"/>
                <a:ea typeface="Calibri" panose="020F0502020204030204" pitchFamily="34" charset="-122"/>
                <a:cs typeface="Calibri" panose="020F0502020204030204" pitchFamily="34" charset="-120"/>
              </a:rPr>
              <a:t>✅ Aquí operamos.</a:t>
            </a:r>
            <a:endParaRPr lang="en-US" sz="950" dirty="0"/>
          </a:p>
        </p:txBody>
      </p:sp>
      <p:sp>
        <p:nvSpPr>
          <p:cNvPr id="14" name="Shape 11"/>
          <p:cNvSpPr/>
          <p:nvPr/>
        </p:nvSpPr>
        <p:spPr>
          <a:xfrm>
            <a:off x="6080760" y="3611880"/>
            <a:ext cx="2834640" cy="1188720"/>
          </a:xfrm>
          <a:prstGeom prst="rect">
            <a:avLst/>
          </a:prstGeom>
          <a:solidFill>
            <a:srgbClr val="131D2E"/>
          </a:solidFill>
          <a:ln w="12700">
            <a:solidFill>
              <a:srgbClr val="F59E0B"/>
            </a:solidFill>
            <a:prstDash val="solid"/>
          </a:ln>
          <a:effectLst>
            <a:outerShdw blurRad="76200" dist="38100" dir="8100000" algn="bl" rotWithShape="0">
              <a:srgbClr val="000000">
                <a:alpha val="30000"/>
              </a:srgbClr>
            </a:outerShdw>
          </a:effectLst>
        </p:spPr>
      </p:sp>
      <p:sp>
        <p:nvSpPr>
          <p:cNvPr id="15" name="Text 12"/>
          <p:cNvSpPr/>
          <p:nvPr/>
        </p:nvSpPr>
        <p:spPr>
          <a:xfrm>
            <a:off x="6263640" y="3721608"/>
            <a:ext cx="2468880" cy="320040"/>
          </a:xfrm>
          <a:prstGeom prst="rect">
            <a:avLst/>
          </a:prstGeom>
          <a:noFill/>
        </p:spPr>
        <p:txBody>
          <a:bodyPr wrap="square" lIns="0" tIns="0" rIns="0" bIns="0" rtlCol="0" anchor="ctr"/>
          <a:lstStyle/>
          <a:p>
            <a:pPr marL="0" indent="0">
              <a:buNone/>
            </a:pPr>
            <a:r>
              <a:rPr lang="en-US" sz="1400" b="1" dirty="0">
                <a:solidFill>
                  <a:srgbClr val="F59E0B"/>
                </a:solidFill>
                <a:latin typeface="Calibri" panose="020F0502020204030204" pitchFamily="34" charset="0"/>
                <a:ea typeface="Calibri" panose="020F0502020204030204" pitchFamily="34" charset="-122"/>
                <a:cs typeface="Calibri" panose="020F0502020204030204" pitchFamily="34" charset="-120"/>
              </a:rPr>
              <a:t>🔴 Alta Vol</a:t>
            </a:r>
            <a:endParaRPr lang="en-US" sz="1400" dirty="0"/>
          </a:p>
        </p:txBody>
      </p:sp>
      <p:sp>
        <p:nvSpPr>
          <p:cNvPr id="16" name="Text 13"/>
          <p:cNvSpPr/>
          <p:nvPr/>
        </p:nvSpPr>
        <p:spPr>
          <a:xfrm>
            <a:off x="6263640" y="4023360"/>
            <a:ext cx="2468880" cy="320040"/>
          </a:xfrm>
          <a:prstGeom prst="rect">
            <a:avLst/>
          </a:prstGeom>
          <a:noFill/>
        </p:spPr>
        <p:txBody>
          <a:bodyPr wrap="square" lIns="0" tIns="0" rIns="0" bIns="0" rtlCol="0" anchor="ctr"/>
          <a:lstStyle/>
          <a:p>
            <a:pPr marL="0" indent="0" algn="ctr">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6.6%</a:t>
            </a:r>
            <a:endParaRPr lang="en-US" sz="2200" dirty="0"/>
          </a:p>
        </p:txBody>
      </p:sp>
      <p:sp>
        <p:nvSpPr>
          <p:cNvPr id="17" name="Text 14"/>
          <p:cNvSpPr/>
          <p:nvPr/>
        </p:nvSpPr>
        <p:spPr>
          <a:xfrm>
            <a:off x="6263640" y="4361688"/>
            <a:ext cx="2468880" cy="347472"/>
          </a:xfrm>
          <a:prstGeom prst="rect">
            <a:avLst/>
          </a:prstGeom>
          <a:noFill/>
        </p:spPr>
        <p:txBody>
          <a:bodyPr wrap="square" lIns="0" tIns="0" rIns="0" bIns="0" rtlCol="0" anchor="ctr"/>
          <a:lstStyle/>
          <a:p>
            <a:pPr marL="0" indent="0">
              <a:buNone/>
            </a:pPr>
            <a:r>
              <a:rPr lang="en-US" sz="950" dirty="0">
                <a:solidFill>
                  <a:srgbClr val="94A3B8"/>
                </a:solidFill>
                <a:latin typeface="Calibri" panose="020F0502020204030204" pitchFamily="34" charset="0"/>
                <a:ea typeface="Calibri" panose="020F0502020204030204" pitchFamily="34" charset="-122"/>
                <a:cs typeface="Calibri" panose="020F0502020204030204" pitchFamily="34" charset="-120"/>
              </a:rPr>
              <a:t>Spikes de noticias.</a:t>
            </a:r>
            <a:endParaRPr lang="en-US" sz="950" dirty="0"/>
          </a:p>
          <a:p>
            <a:pPr marL="0" indent="0">
              <a:buNone/>
            </a:pPr>
            <a:r>
              <a:rPr lang="en-US" sz="950" dirty="0">
                <a:solidFill>
                  <a:srgbClr val="94A3B8"/>
                </a:solidFill>
                <a:latin typeface="Calibri" panose="020F0502020204030204" pitchFamily="34" charset="0"/>
                <a:ea typeface="Calibri" panose="020F0502020204030204" pitchFamily="34" charset="-122"/>
                <a:cs typeface="Calibri" panose="020F0502020204030204" pitchFamily="34" charset="-120"/>
              </a:rPr>
              <a:t>EMA 13/45 sensible.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Text 1"/>
          <p:cNvSpPr/>
          <p:nvPr/>
        </p:nvSpPr>
        <p:spPr>
          <a:xfrm>
            <a:off x="274320" y="164592"/>
            <a:ext cx="8595360" cy="530352"/>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 · 6 Modelos Supervisados</a:t>
            </a:r>
            <a:endParaRPr lang="en-US" sz="2800" dirty="0"/>
          </a:p>
        </p:txBody>
      </p:sp>
      <p:sp>
        <p:nvSpPr>
          <p:cNvPr id="4" name="Text 2"/>
          <p:cNvSpPr/>
          <p:nvPr/>
        </p:nvSpPr>
        <p:spPr>
          <a:xfrm>
            <a:off x="274320" y="713232"/>
            <a:ext cx="8595360" cy="292608"/>
          </a:xfrm>
          <a:prstGeom prst="rect">
            <a:avLst/>
          </a:prstGeom>
          <a:noFill/>
        </p:spPr>
        <p:txBody>
          <a:bodyPr wrap="square" lIns="0" tIns="0" rIns="0" bIns="0" rtlCol="0" anchor="ctr"/>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Pipeline: SimpleImputer → StandardScaler → Modelo · GridSearchCV · TimeSeriesSplit(3)</a:t>
            </a:r>
            <a:endParaRPr lang="en-US" sz="1300" dirty="0"/>
          </a:p>
        </p:txBody>
      </p:sp>
      <p:sp>
        <p:nvSpPr>
          <p:cNvPr id="5" name="Shape 3"/>
          <p:cNvSpPr/>
          <p:nvPr/>
        </p:nvSpPr>
        <p:spPr>
          <a:xfrm>
            <a:off x="274320" y="1005840"/>
            <a:ext cx="2743200" cy="1691640"/>
          </a:xfrm>
          <a:prstGeom prst="rect">
            <a:avLst/>
          </a:prstGeom>
          <a:solidFill>
            <a:srgbClr val="131D2E"/>
          </a:solidFill>
          <a:ln w="12700">
            <a:solidFill>
              <a:srgbClr val="94A3B8"/>
            </a:solidFill>
            <a:prstDash val="solid"/>
          </a:ln>
          <a:effectLst>
            <a:outerShdw blurRad="76200" dist="38100" dir="8100000" algn="bl" rotWithShape="0">
              <a:srgbClr val="000000">
                <a:alpha val="30000"/>
              </a:srgbClr>
            </a:outerShdw>
          </a:effectLst>
        </p:spPr>
      </p:sp>
      <p:sp>
        <p:nvSpPr>
          <p:cNvPr id="6" name="Shape 4"/>
          <p:cNvSpPr/>
          <p:nvPr/>
        </p:nvSpPr>
        <p:spPr>
          <a:xfrm>
            <a:off x="411480" y="1143000"/>
            <a:ext cx="347472" cy="347472"/>
          </a:xfrm>
          <a:prstGeom prst="rect">
            <a:avLst/>
          </a:prstGeom>
          <a:solidFill>
            <a:srgbClr val="94A3B8"/>
          </a:solidFill>
          <a:ln w="12700">
            <a:solidFill>
              <a:srgbClr val="94A3B8"/>
            </a:solidFill>
            <a:prstDash val="solid"/>
          </a:ln>
        </p:spPr>
      </p:sp>
      <p:sp>
        <p:nvSpPr>
          <p:cNvPr id="7" name="Text 5"/>
          <p:cNvSpPr/>
          <p:nvPr/>
        </p:nvSpPr>
        <p:spPr>
          <a:xfrm>
            <a:off x="411480" y="1143000"/>
            <a:ext cx="347472" cy="347472"/>
          </a:xfrm>
          <a:prstGeom prst="rect">
            <a:avLst/>
          </a:prstGeom>
          <a:noFill/>
        </p:spPr>
        <p:txBody>
          <a:bodyPr wrap="square" lIns="0" tIns="0" rIns="0" bIns="0" rtlCol="0" anchor="ctr"/>
          <a:lstStyle/>
          <a:p>
            <a:pPr marL="0" indent="0" algn="ctr">
              <a:buNone/>
            </a:pPr>
            <a:r>
              <a:rPr lang="en-US" sz="1300" b="1" dirty="0">
                <a:solidFill>
                  <a:srgbClr val="0D1117"/>
                </a:solidFill>
                <a:latin typeface="Calibri" panose="020F0502020204030204" pitchFamily="34" charset="0"/>
                <a:ea typeface="Calibri" panose="020F0502020204030204" pitchFamily="34" charset="-122"/>
                <a:cs typeface="Calibri" panose="020F0502020204030204" pitchFamily="34" charset="-120"/>
              </a:rPr>
              <a:t>01</a:t>
            </a:r>
            <a:endParaRPr lang="en-US" sz="1300" dirty="0"/>
          </a:p>
        </p:txBody>
      </p:sp>
      <p:sp>
        <p:nvSpPr>
          <p:cNvPr id="8" name="Text 6"/>
          <p:cNvSpPr/>
          <p:nvPr/>
        </p:nvSpPr>
        <p:spPr>
          <a:xfrm>
            <a:off x="868680" y="1143000"/>
            <a:ext cx="2011680" cy="347472"/>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Logistic Regression</a:t>
            </a:r>
            <a:endParaRPr lang="en-US" sz="1300" dirty="0"/>
          </a:p>
        </p:txBody>
      </p:sp>
      <p:sp>
        <p:nvSpPr>
          <p:cNvPr id="9" name="Shape 7"/>
          <p:cNvSpPr/>
          <p:nvPr/>
        </p:nvSpPr>
        <p:spPr>
          <a:xfrm>
            <a:off x="868680" y="1508760"/>
            <a:ext cx="1097280" cy="228600"/>
          </a:xfrm>
          <a:prstGeom prst="rect">
            <a:avLst/>
          </a:prstGeom>
          <a:solidFill>
            <a:srgbClr val="000000"/>
          </a:solidFill>
          <a:ln w="6350">
            <a:solidFill>
              <a:srgbClr val="94A3B8"/>
            </a:solidFill>
            <a:prstDash val="solid"/>
          </a:ln>
        </p:spPr>
      </p:sp>
      <p:sp>
        <p:nvSpPr>
          <p:cNvPr id="10" name="Text 8"/>
          <p:cNvSpPr/>
          <p:nvPr/>
        </p:nvSpPr>
        <p:spPr>
          <a:xfrm>
            <a:off x="868680" y="1508760"/>
            <a:ext cx="1097280" cy="228600"/>
          </a:xfrm>
          <a:prstGeom prst="rect">
            <a:avLst/>
          </a:prstGeom>
          <a:noFill/>
        </p:spPr>
        <p:txBody>
          <a:bodyPr wrap="square" lIns="0" tIns="0" rIns="0" bIns="0" rtlCol="0" anchor="ctr"/>
          <a:lstStyle/>
          <a:p>
            <a:pPr marL="0" indent="0" algn="ctr">
              <a:buNone/>
            </a:pPr>
            <a:r>
              <a:rPr lang="en-US" sz="900" dirty="0">
                <a:solidFill>
                  <a:srgbClr val="94A3B8"/>
                </a:solidFill>
                <a:latin typeface="Calibri" panose="020F0502020204030204" pitchFamily="34" charset="0"/>
                <a:ea typeface="Calibri" panose="020F0502020204030204" pitchFamily="34" charset="-122"/>
                <a:cs typeface="Calibri" panose="020F0502020204030204" pitchFamily="34" charset="-120"/>
              </a:rPr>
              <a:t>Lineal</a:t>
            </a:r>
            <a:endParaRPr lang="en-US" sz="900" dirty="0"/>
          </a:p>
        </p:txBody>
      </p:sp>
      <p:sp>
        <p:nvSpPr>
          <p:cNvPr id="11" name="Text 9"/>
          <p:cNvSpPr/>
          <p:nvPr/>
        </p:nvSpPr>
        <p:spPr>
          <a:xfrm>
            <a:off x="411480" y="1874520"/>
            <a:ext cx="2468880" cy="59436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Baseline interpretable</a:t>
            </a:r>
            <a:endParaRPr lang="en-US" sz="1100" dirty="0"/>
          </a:p>
        </p:txBody>
      </p:sp>
      <p:sp>
        <p:nvSpPr>
          <p:cNvPr id="12" name="Shape 10"/>
          <p:cNvSpPr/>
          <p:nvPr/>
        </p:nvSpPr>
        <p:spPr>
          <a:xfrm>
            <a:off x="3200400" y="1005840"/>
            <a:ext cx="2743200" cy="1691640"/>
          </a:xfrm>
          <a:prstGeom prst="rect">
            <a:avLst/>
          </a:prstGeom>
          <a:solidFill>
            <a:srgbClr val="131D2E"/>
          </a:solidFill>
          <a:ln w="12700">
            <a:solidFill>
              <a:srgbClr val="0EA5E9"/>
            </a:solidFill>
            <a:prstDash val="solid"/>
          </a:ln>
          <a:effectLst>
            <a:outerShdw blurRad="76200" dist="38100" dir="8100000" algn="bl" rotWithShape="0">
              <a:srgbClr val="000000">
                <a:alpha val="30000"/>
              </a:srgbClr>
            </a:outerShdw>
          </a:effectLst>
        </p:spPr>
      </p:sp>
      <p:sp>
        <p:nvSpPr>
          <p:cNvPr id="13" name="Shape 11"/>
          <p:cNvSpPr/>
          <p:nvPr/>
        </p:nvSpPr>
        <p:spPr>
          <a:xfrm>
            <a:off x="3337560" y="1143000"/>
            <a:ext cx="347472" cy="347472"/>
          </a:xfrm>
          <a:prstGeom prst="rect">
            <a:avLst/>
          </a:prstGeom>
          <a:solidFill>
            <a:srgbClr val="0EA5E9"/>
          </a:solidFill>
          <a:ln w="12700">
            <a:solidFill>
              <a:srgbClr val="0EA5E9"/>
            </a:solidFill>
            <a:prstDash val="solid"/>
          </a:ln>
        </p:spPr>
      </p:sp>
      <p:sp>
        <p:nvSpPr>
          <p:cNvPr id="14" name="Text 12"/>
          <p:cNvSpPr/>
          <p:nvPr/>
        </p:nvSpPr>
        <p:spPr>
          <a:xfrm>
            <a:off x="3337560" y="1143000"/>
            <a:ext cx="347472" cy="347472"/>
          </a:xfrm>
          <a:prstGeom prst="rect">
            <a:avLst/>
          </a:prstGeom>
          <a:noFill/>
        </p:spPr>
        <p:txBody>
          <a:bodyPr wrap="square" lIns="0" tIns="0" rIns="0" bIns="0" rtlCol="0" anchor="ctr"/>
          <a:lstStyle/>
          <a:p>
            <a:pPr marL="0" indent="0" algn="ctr">
              <a:buNone/>
            </a:pPr>
            <a:r>
              <a:rPr lang="en-US" sz="1300" b="1" dirty="0">
                <a:solidFill>
                  <a:srgbClr val="0D1117"/>
                </a:solidFill>
                <a:latin typeface="Calibri" panose="020F0502020204030204" pitchFamily="34" charset="0"/>
                <a:ea typeface="Calibri" panose="020F0502020204030204" pitchFamily="34" charset="-122"/>
                <a:cs typeface="Calibri" panose="020F0502020204030204" pitchFamily="34" charset="-120"/>
              </a:rPr>
              <a:t>02</a:t>
            </a:r>
            <a:endParaRPr lang="en-US" sz="1300" dirty="0"/>
          </a:p>
        </p:txBody>
      </p:sp>
      <p:sp>
        <p:nvSpPr>
          <p:cNvPr id="15" name="Text 13"/>
          <p:cNvSpPr/>
          <p:nvPr/>
        </p:nvSpPr>
        <p:spPr>
          <a:xfrm>
            <a:off x="3794760" y="1143000"/>
            <a:ext cx="2011680" cy="347472"/>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Random Forest</a:t>
            </a:r>
            <a:endParaRPr lang="en-US" sz="1300" dirty="0"/>
          </a:p>
        </p:txBody>
      </p:sp>
      <p:sp>
        <p:nvSpPr>
          <p:cNvPr id="16" name="Shape 14"/>
          <p:cNvSpPr/>
          <p:nvPr/>
        </p:nvSpPr>
        <p:spPr>
          <a:xfrm>
            <a:off x="3794760" y="1508760"/>
            <a:ext cx="1097280" cy="228600"/>
          </a:xfrm>
          <a:prstGeom prst="rect">
            <a:avLst/>
          </a:prstGeom>
          <a:solidFill>
            <a:srgbClr val="000000"/>
          </a:solidFill>
          <a:ln w="6350">
            <a:solidFill>
              <a:srgbClr val="0EA5E9"/>
            </a:solidFill>
            <a:prstDash val="solid"/>
          </a:ln>
        </p:spPr>
      </p:sp>
      <p:sp>
        <p:nvSpPr>
          <p:cNvPr id="17" name="Text 15"/>
          <p:cNvSpPr/>
          <p:nvPr/>
        </p:nvSpPr>
        <p:spPr>
          <a:xfrm>
            <a:off x="3794760" y="1508760"/>
            <a:ext cx="1097280" cy="228600"/>
          </a:xfrm>
          <a:prstGeom prst="rect">
            <a:avLst/>
          </a:prstGeom>
          <a:noFill/>
        </p:spPr>
        <p:txBody>
          <a:bodyPr wrap="square" lIns="0" tIns="0" rIns="0" bIns="0" rtlCol="0" anchor="ctr"/>
          <a:lstStyle/>
          <a:p>
            <a:pPr marL="0" indent="0" algn="ctr">
              <a:buNone/>
            </a:pPr>
            <a:r>
              <a:rPr lang="en-US" sz="900" dirty="0">
                <a:solidFill>
                  <a:srgbClr val="0EA5E9"/>
                </a:solidFill>
                <a:latin typeface="Calibri" panose="020F0502020204030204" pitchFamily="34" charset="0"/>
                <a:ea typeface="Calibri" panose="020F0502020204030204" pitchFamily="34" charset="-122"/>
                <a:cs typeface="Calibri" panose="020F0502020204030204" pitchFamily="34" charset="-120"/>
              </a:rPr>
              <a:t>Ensemble</a:t>
            </a:r>
            <a:endParaRPr lang="en-US" sz="900" dirty="0"/>
          </a:p>
        </p:txBody>
      </p:sp>
      <p:sp>
        <p:nvSpPr>
          <p:cNvPr id="18" name="Text 16"/>
          <p:cNvSpPr/>
          <p:nvPr/>
        </p:nvSpPr>
        <p:spPr>
          <a:xfrm>
            <a:off x="3337560" y="1874520"/>
            <a:ext cx="2468880" cy="59436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Árboles + regularización</a:t>
            </a:r>
            <a:endParaRPr lang="en-US" sz="1100" dirty="0"/>
          </a:p>
        </p:txBody>
      </p:sp>
      <p:sp>
        <p:nvSpPr>
          <p:cNvPr id="19" name="Shape 17"/>
          <p:cNvSpPr/>
          <p:nvPr/>
        </p:nvSpPr>
        <p:spPr>
          <a:xfrm>
            <a:off x="6126480" y="1005840"/>
            <a:ext cx="2743200" cy="1691640"/>
          </a:xfrm>
          <a:prstGeom prst="rect">
            <a:avLst/>
          </a:prstGeom>
          <a:solidFill>
            <a:srgbClr val="131D2E"/>
          </a:solidFill>
          <a:ln w="12700">
            <a:solidFill>
              <a:srgbClr val="10B981"/>
            </a:solidFill>
            <a:prstDash val="solid"/>
          </a:ln>
          <a:effectLst>
            <a:outerShdw blurRad="76200" dist="38100" dir="8100000" algn="bl" rotWithShape="0">
              <a:srgbClr val="000000">
                <a:alpha val="30000"/>
              </a:srgbClr>
            </a:outerShdw>
          </a:effectLst>
        </p:spPr>
      </p:sp>
      <p:sp>
        <p:nvSpPr>
          <p:cNvPr id="20" name="Shape 18"/>
          <p:cNvSpPr/>
          <p:nvPr/>
        </p:nvSpPr>
        <p:spPr>
          <a:xfrm>
            <a:off x="6263640" y="1143000"/>
            <a:ext cx="347472" cy="347472"/>
          </a:xfrm>
          <a:prstGeom prst="rect">
            <a:avLst/>
          </a:prstGeom>
          <a:solidFill>
            <a:srgbClr val="10B981"/>
          </a:solidFill>
          <a:ln w="12700">
            <a:solidFill>
              <a:srgbClr val="10B981"/>
            </a:solidFill>
            <a:prstDash val="solid"/>
          </a:ln>
        </p:spPr>
      </p:sp>
      <p:sp>
        <p:nvSpPr>
          <p:cNvPr id="21" name="Text 19"/>
          <p:cNvSpPr/>
          <p:nvPr/>
        </p:nvSpPr>
        <p:spPr>
          <a:xfrm>
            <a:off x="6263640" y="1143000"/>
            <a:ext cx="347472" cy="347472"/>
          </a:xfrm>
          <a:prstGeom prst="rect">
            <a:avLst/>
          </a:prstGeom>
          <a:noFill/>
        </p:spPr>
        <p:txBody>
          <a:bodyPr wrap="square" lIns="0" tIns="0" rIns="0" bIns="0" rtlCol="0" anchor="ctr"/>
          <a:lstStyle/>
          <a:p>
            <a:pPr marL="0" indent="0" algn="ctr">
              <a:buNone/>
            </a:pPr>
            <a:r>
              <a:rPr lang="en-US" sz="1300" b="1" dirty="0">
                <a:solidFill>
                  <a:srgbClr val="0D1117"/>
                </a:solidFill>
                <a:latin typeface="Calibri" panose="020F0502020204030204" pitchFamily="34" charset="0"/>
                <a:ea typeface="Calibri" panose="020F0502020204030204" pitchFamily="34" charset="-122"/>
                <a:cs typeface="Calibri" panose="020F0502020204030204" pitchFamily="34" charset="-120"/>
              </a:rPr>
              <a:t>03</a:t>
            </a:r>
            <a:endParaRPr lang="en-US" sz="1300" dirty="0"/>
          </a:p>
        </p:txBody>
      </p:sp>
      <p:sp>
        <p:nvSpPr>
          <p:cNvPr id="22" name="Text 20"/>
          <p:cNvSpPr/>
          <p:nvPr/>
        </p:nvSpPr>
        <p:spPr>
          <a:xfrm>
            <a:off x="6720840" y="1143000"/>
            <a:ext cx="2011680" cy="347472"/>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XGBoost</a:t>
            </a:r>
            <a:endParaRPr lang="en-US" sz="1300" dirty="0"/>
          </a:p>
        </p:txBody>
      </p:sp>
      <p:sp>
        <p:nvSpPr>
          <p:cNvPr id="23" name="Shape 21"/>
          <p:cNvSpPr/>
          <p:nvPr/>
        </p:nvSpPr>
        <p:spPr>
          <a:xfrm>
            <a:off x="6720840" y="1508760"/>
            <a:ext cx="1097280" cy="228600"/>
          </a:xfrm>
          <a:prstGeom prst="rect">
            <a:avLst/>
          </a:prstGeom>
          <a:solidFill>
            <a:srgbClr val="000000"/>
          </a:solidFill>
          <a:ln w="6350">
            <a:solidFill>
              <a:srgbClr val="10B981"/>
            </a:solidFill>
            <a:prstDash val="solid"/>
          </a:ln>
        </p:spPr>
      </p:sp>
      <p:sp>
        <p:nvSpPr>
          <p:cNvPr id="24" name="Text 22"/>
          <p:cNvSpPr/>
          <p:nvPr/>
        </p:nvSpPr>
        <p:spPr>
          <a:xfrm>
            <a:off x="6720840" y="1508760"/>
            <a:ext cx="1097280" cy="228600"/>
          </a:xfrm>
          <a:prstGeom prst="rect">
            <a:avLst/>
          </a:prstGeom>
          <a:noFill/>
        </p:spPr>
        <p:txBody>
          <a:bodyPr wrap="square" lIns="0" tIns="0" rIns="0" bIns="0" rtlCol="0" anchor="ctr"/>
          <a:lstStyle/>
          <a:p>
            <a:pPr marL="0" indent="0" algn="ctr">
              <a:buNone/>
            </a:pPr>
            <a:r>
              <a:rPr lang="en-US" sz="900" dirty="0">
                <a:solidFill>
                  <a:srgbClr val="10B981"/>
                </a:solidFill>
                <a:latin typeface="Calibri" panose="020F0502020204030204" pitchFamily="34" charset="0"/>
                <a:ea typeface="Calibri" panose="020F0502020204030204" pitchFamily="34" charset="-122"/>
                <a:cs typeface="Calibri" panose="020F0502020204030204" pitchFamily="34" charset="-120"/>
              </a:rPr>
              <a:t>Boosting</a:t>
            </a:r>
            <a:endParaRPr lang="en-US" sz="900" dirty="0"/>
          </a:p>
        </p:txBody>
      </p:sp>
      <p:sp>
        <p:nvSpPr>
          <p:cNvPr id="25" name="Text 23"/>
          <p:cNvSpPr/>
          <p:nvPr/>
        </p:nvSpPr>
        <p:spPr>
          <a:xfrm>
            <a:off x="6263640" y="1874520"/>
            <a:ext cx="2468880" cy="59436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Gradient boosting avanzado</a:t>
            </a:r>
            <a:endParaRPr lang="en-US" sz="1100" dirty="0"/>
          </a:p>
        </p:txBody>
      </p:sp>
      <p:sp>
        <p:nvSpPr>
          <p:cNvPr id="26" name="Shape 24"/>
          <p:cNvSpPr/>
          <p:nvPr/>
        </p:nvSpPr>
        <p:spPr>
          <a:xfrm>
            <a:off x="274320" y="2880360"/>
            <a:ext cx="2743200" cy="1691640"/>
          </a:xfrm>
          <a:prstGeom prst="rect">
            <a:avLst/>
          </a:prstGeom>
          <a:solidFill>
            <a:srgbClr val="131D2E"/>
          </a:solidFill>
          <a:ln w="12700">
            <a:solidFill>
              <a:srgbClr val="F59E0B"/>
            </a:solidFill>
            <a:prstDash val="solid"/>
          </a:ln>
          <a:effectLst>
            <a:outerShdw blurRad="76200" dist="38100" dir="8100000" algn="bl" rotWithShape="0">
              <a:srgbClr val="000000">
                <a:alpha val="30000"/>
              </a:srgbClr>
            </a:outerShdw>
          </a:effectLst>
        </p:spPr>
      </p:sp>
      <p:sp>
        <p:nvSpPr>
          <p:cNvPr id="27" name="Shape 25"/>
          <p:cNvSpPr/>
          <p:nvPr/>
        </p:nvSpPr>
        <p:spPr>
          <a:xfrm>
            <a:off x="411480" y="3017520"/>
            <a:ext cx="347472" cy="347472"/>
          </a:xfrm>
          <a:prstGeom prst="rect">
            <a:avLst/>
          </a:prstGeom>
          <a:solidFill>
            <a:srgbClr val="F59E0B"/>
          </a:solidFill>
          <a:ln w="12700">
            <a:solidFill>
              <a:srgbClr val="F59E0B"/>
            </a:solidFill>
            <a:prstDash val="solid"/>
          </a:ln>
        </p:spPr>
      </p:sp>
      <p:sp>
        <p:nvSpPr>
          <p:cNvPr id="28" name="Text 26"/>
          <p:cNvSpPr/>
          <p:nvPr/>
        </p:nvSpPr>
        <p:spPr>
          <a:xfrm>
            <a:off x="411480" y="3017520"/>
            <a:ext cx="347472" cy="347472"/>
          </a:xfrm>
          <a:prstGeom prst="rect">
            <a:avLst/>
          </a:prstGeom>
          <a:noFill/>
        </p:spPr>
        <p:txBody>
          <a:bodyPr wrap="square" lIns="0" tIns="0" rIns="0" bIns="0" rtlCol="0" anchor="ctr"/>
          <a:lstStyle/>
          <a:p>
            <a:pPr marL="0" indent="0" algn="ctr">
              <a:buNone/>
            </a:pPr>
            <a:r>
              <a:rPr lang="en-US" sz="1300" b="1" dirty="0">
                <a:solidFill>
                  <a:srgbClr val="0D1117"/>
                </a:solidFill>
                <a:latin typeface="Calibri" panose="020F0502020204030204" pitchFamily="34" charset="0"/>
                <a:ea typeface="Calibri" panose="020F0502020204030204" pitchFamily="34" charset="-122"/>
                <a:cs typeface="Calibri" panose="020F0502020204030204" pitchFamily="34" charset="-120"/>
              </a:rPr>
              <a:t>04</a:t>
            </a:r>
            <a:endParaRPr lang="en-US" sz="1300" dirty="0"/>
          </a:p>
        </p:txBody>
      </p:sp>
      <p:sp>
        <p:nvSpPr>
          <p:cNvPr id="29" name="Text 27"/>
          <p:cNvSpPr/>
          <p:nvPr/>
        </p:nvSpPr>
        <p:spPr>
          <a:xfrm>
            <a:off x="868680" y="3017520"/>
            <a:ext cx="2011680" cy="347472"/>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LightGBM</a:t>
            </a:r>
            <a:endParaRPr lang="en-US" sz="1300" dirty="0"/>
          </a:p>
        </p:txBody>
      </p:sp>
      <p:sp>
        <p:nvSpPr>
          <p:cNvPr id="30" name="Shape 28"/>
          <p:cNvSpPr/>
          <p:nvPr/>
        </p:nvSpPr>
        <p:spPr>
          <a:xfrm>
            <a:off x="868680" y="3383280"/>
            <a:ext cx="1097280" cy="228600"/>
          </a:xfrm>
          <a:prstGeom prst="rect">
            <a:avLst/>
          </a:prstGeom>
          <a:solidFill>
            <a:srgbClr val="000000"/>
          </a:solidFill>
          <a:ln w="6350">
            <a:solidFill>
              <a:srgbClr val="F59E0B"/>
            </a:solidFill>
            <a:prstDash val="solid"/>
          </a:ln>
        </p:spPr>
      </p:sp>
      <p:sp>
        <p:nvSpPr>
          <p:cNvPr id="31" name="Text 29"/>
          <p:cNvSpPr/>
          <p:nvPr/>
        </p:nvSpPr>
        <p:spPr>
          <a:xfrm>
            <a:off x="868680" y="3383280"/>
            <a:ext cx="1097280" cy="228600"/>
          </a:xfrm>
          <a:prstGeom prst="rect">
            <a:avLst/>
          </a:prstGeom>
          <a:noFill/>
        </p:spPr>
        <p:txBody>
          <a:bodyPr wrap="square" lIns="0" tIns="0" rIns="0" bIns="0" rtlCol="0" anchor="ctr"/>
          <a:lstStyle/>
          <a:p>
            <a:pPr marL="0" indent="0" algn="ctr">
              <a:buNone/>
            </a:pPr>
            <a:r>
              <a:rPr lang="en-US" sz="900" dirty="0">
                <a:solidFill>
                  <a:srgbClr val="F59E0B"/>
                </a:solidFill>
                <a:latin typeface="Calibri" panose="020F0502020204030204" pitchFamily="34" charset="0"/>
                <a:ea typeface="Calibri" panose="020F0502020204030204" pitchFamily="34" charset="-122"/>
                <a:cs typeface="Calibri" panose="020F0502020204030204" pitchFamily="34" charset="-120"/>
              </a:rPr>
              <a:t>Boosting</a:t>
            </a:r>
            <a:endParaRPr lang="en-US" sz="900" dirty="0"/>
          </a:p>
        </p:txBody>
      </p:sp>
      <p:sp>
        <p:nvSpPr>
          <p:cNvPr id="32" name="Text 30"/>
          <p:cNvSpPr/>
          <p:nvPr/>
        </p:nvSpPr>
        <p:spPr>
          <a:xfrm>
            <a:off x="411480" y="3749040"/>
            <a:ext cx="2468880" cy="59436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Eficiente en memoria</a:t>
            </a:r>
            <a:endParaRPr lang="en-US" sz="1100" dirty="0"/>
          </a:p>
        </p:txBody>
      </p:sp>
      <p:sp>
        <p:nvSpPr>
          <p:cNvPr id="33" name="Shape 31"/>
          <p:cNvSpPr/>
          <p:nvPr/>
        </p:nvSpPr>
        <p:spPr>
          <a:xfrm>
            <a:off x="3200400" y="2880360"/>
            <a:ext cx="2743200" cy="1691640"/>
          </a:xfrm>
          <a:prstGeom prst="rect">
            <a:avLst/>
          </a:prstGeom>
          <a:solidFill>
            <a:srgbClr val="131D2E"/>
          </a:solidFill>
          <a:ln w="12700">
            <a:solidFill>
              <a:srgbClr val="0EA5E9"/>
            </a:solidFill>
            <a:prstDash val="solid"/>
          </a:ln>
          <a:effectLst>
            <a:outerShdw blurRad="76200" dist="38100" dir="8100000" algn="bl" rotWithShape="0">
              <a:srgbClr val="000000">
                <a:alpha val="30000"/>
              </a:srgbClr>
            </a:outerShdw>
          </a:effectLst>
        </p:spPr>
      </p:sp>
      <p:sp>
        <p:nvSpPr>
          <p:cNvPr id="34" name="Shape 32"/>
          <p:cNvSpPr/>
          <p:nvPr/>
        </p:nvSpPr>
        <p:spPr>
          <a:xfrm>
            <a:off x="3337560" y="3017520"/>
            <a:ext cx="347472" cy="347472"/>
          </a:xfrm>
          <a:prstGeom prst="rect">
            <a:avLst/>
          </a:prstGeom>
          <a:solidFill>
            <a:srgbClr val="0EA5E9"/>
          </a:solidFill>
          <a:ln w="12700">
            <a:solidFill>
              <a:srgbClr val="0EA5E9"/>
            </a:solidFill>
            <a:prstDash val="solid"/>
          </a:ln>
        </p:spPr>
      </p:sp>
      <p:sp>
        <p:nvSpPr>
          <p:cNvPr id="35" name="Text 33"/>
          <p:cNvSpPr/>
          <p:nvPr/>
        </p:nvSpPr>
        <p:spPr>
          <a:xfrm>
            <a:off x="3337560" y="3017520"/>
            <a:ext cx="347472" cy="347472"/>
          </a:xfrm>
          <a:prstGeom prst="rect">
            <a:avLst/>
          </a:prstGeom>
          <a:noFill/>
        </p:spPr>
        <p:txBody>
          <a:bodyPr wrap="square" lIns="0" tIns="0" rIns="0" bIns="0" rtlCol="0" anchor="ctr"/>
          <a:lstStyle/>
          <a:p>
            <a:pPr marL="0" indent="0" algn="ctr">
              <a:buNone/>
            </a:pPr>
            <a:r>
              <a:rPr lang="en-US" sz="1300" b="1" dirty="0">
                <a:solidFill>
                  <a:srgbClr val="0D1117"/>
                </a:solidFill>
                <a:latin typeface="Calibri" panose="020F0502020204030204" pitchFamily="34" charset="0"/>
                <a:ea typeface="Calibri" panose="020F0502020204030204" pitchFamily="34" charset="-122"/>
                <a:cs typeface="Calibri" panose="020F0502020204030204" pitchFamily="34" charset="-120"/>
              </a:rPr>
              <a:t>05</a:t>
            </a:r>
            <a:endParaRPr lang="en-US" sz="1300" dirty="0"/>
          </a:p>
        </p:txBody>
      </p:sp>
      <p:sp>
        <p:nvSpPr>
          <p:cNvPr id="36" name="Text 34"/>
          <p:cNvSpPr/>
          <p:nvPr/>
        </p:nvSpPr>
        <p:spPr>
          <a:xfrm>
            <a:off x="3794760" y="3017520"/>
            <a:ext cx="2011680" cy="347472"/>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SVM</a:t>
            </a:r>
            <a:endParaRPr lang="en-US" sz="1300" dirty="0"/>
          </a:p>
        </p:txBody>
      </p:sp>
      <p:sp>
        <p:nvSpPr>
          <p:cNvPr id="37" name="Shape 35"/>
          <p:cNvSpPr/>
          <p:nvPr/>
        </p:nvSpPr>
        <p:spPr>
          <a:xfrm>
            <a:off x="3794760" y="3383280"/>
            <a:ext cx="1097280" cy="228600"/>
          </a:xfrm>
          <a:prstGeom prst="rect">
            <a:avLst/>
          </a:prstGeom>
          <a:solidFill>
            <a:srgbClr val="000000"/>
          </a:solidFill>
          <a:ln w="6350">
            <a:solidFill>
              <a:srgbClr val="0EA5E9"/>
            </a:solidFill>
            <a:prstDash val="solid"/>
          </a:ln>
        </p:spPr>
      </p:sp>
      <p:sp>
        <p:nvSpPr>
          <p:cNvPr id="38" name="Text 36"/>
          <p:cNvSpPr/>
          <p:nvPr/>
        </p:nvSpPr>
        <p:spPr>
          <a:xfrm>
            <a:off x="3794760" y="3383280"/>
            <a:ext cx="1097280" cy="228600"/>
          </a:xfrm>
          <a:prstGeom prst="rect">
            <a:avLst/>
          </a:prstGeom>
          <a:noFill/>
        </p:spPr>
        <p:txBody>
          <a:bodyPr wrap="square" lIns="0" tIns="0" rIns="0" bIns="0" rtlCol="0" anchor="ctr"/>
          <a:lstStyle/>
          <a:p>
            <a:pPr marL="0" indent="0" algn="ctr">
              <a:buNone/>
            </a:pPr>
            <a:r>
              <a:rPr lang="en-US" sz="900" dirty="0">
                <a:solidFill>
                  <a:srgbClr val="0EA5E9"/>
                </a:solidFill>
                <a:latin typeface="Calibri" panose="020F0502020204030204" pitchFamily="34" charset="0"/>
                <a:ea typeface="Calibri" panose="020F0502020204030204" pitchFamily="34" charset="-122"/>
                <a:cs typeface="Calibri" panose="020F0502020204030204" pitchFamily="34" charset="-120"/>
              </a:rPr>
              <a:t>Kernel</a:t>
            </a:r>
            <a:endParaRPr lang="en-US" sz="900" dirty="0"/>
          </a:p>
        </p:txBody>
      </p:sp>
      <p:sp>
        <p:nvSpPr>
          <p:cNvPr id="39" name="Text 37"/>
          <p:cNvSpPr/>
          <p:nvPr/>
        </p:nvSpPr>
        <p:spPr>
          <a:xfrm>
            <a:off x="3337560" y="3749040"/>
            <a:ext cx="2468880" cy="59436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Margen de separación</a:t>
            </a:r>
            <a:endParaRPr lang="en-US" sz="1100" dirty="0"/>
          </a:p>
        </p:txBody>
      </p:sp>
      <p:sp>
        <p:nvSpPr>
          <p:cNvPr id="40" name="Shape 38"/>
          <p:cNvSpPr/>
          <p:nvPr/>
        </p:nvSpPr>
        <p:spPr>
          <a:xfrm>
            <a:off x="6126480" y="2880360"/>
            <a:ext cx="2743200" cy="1691640"/>
          </a:xfrm>
          <a:prstGeom prst="rect">
            <a:avLst/>
          </a:prstGeom>
          <a:solidFill>
            <a:srgbClr val="131D2E"/>
          </a:solidFill>
          <a:ln w="12700">
            <a:solidFill>
              <a:srgbClr val="94A3B8"/>
            </a:solidFill>
            <a:prstDash val="solid"/>
          </a:ln>
          <a:effectLst>
            <a:outerShdw blurRad="76200" dist="38100" dir="8100000" algn="bl" rotWithShape="0">
              <a:srgbClr val="000000">
                <a:alpha val="30000"/>
              </a:srgbClr>
            </a:outerShdw>
          </a:effectLst>
        </p:spPr>
      </p:sp>
      <p:sp>
        <p:nvSpPr>
          <p:cNvPr id="41" name="Shape 39"/>
          <p:cNvSpPr/>
          <p:nvPr/>
        </p:nvSpPr>
        <p:spPr>
          <a:xfrm>
            <a:off x="6263640" y="3017520"/>
            <a:ext cx="347472" cy="347472"/>
          </a:xfrm>
          <a:prstGeom prst="rect">
            <a:avLst/>
          </a:prstGeom>
          <a:solidFill>
            <a:srgbClr val="94A3B8"/>
          </a:solidFill>
          <a:ln w="12700">
            <a:solidFill>
              <a:srgbClr val="94A3B8"/>
            </a:solidFill>
            <a:prstDash val="solid"/>
          </a:ln>
        </p:spPr>
      </p:sp>
      <p:sp>
        <p:nvSpPr>
          <p:cNvPr id="42" name="Text 40"/>
          <p:cNvSpPr/>
          <p:nvPr/>
        </p:nvSpPr>
        <p:spPr>
          <a:xfrm>
            <a:off x="6263640" y="3017520"/>
            <a:ext cx="347472" cy="347472"/>
          </a:xfrm>
          <a:prstGeom prst="rect">
            <a:avLst/>
          </a:prstGeom>
          <a:noFill/>
        </p:spPr>
        <p:txBody>
          <a:bodyPr wrap="square" lIns="0" tIns="0" rIns="0" bIns="0" rtlCol="0" anchor="ctr"/>
          <a:lstStyle/>
          <a:p>
            <a:pPr marL="0" indent="0" algn="ctr">
              <a:buNone/>
            </a:pPr>
            <a:r>
              <a:rPr lang="en-US" sz="1300" b="1" dirty="0">
                <a:solidFill>
                  <a:srgbClr val="0D1117"/>
                </a:solidFill>
                <a:latin typeface="Calibri" panose="020F0502020204030204" pitchFamily="34" charset="0"/>
                <a:ea typeface="Calibri" panose="020F0502020204030204" pitchFamily="34" charset="-122"/>
                <a:cs typeface="Calibri" panose="020F0502020204030204" pitchFamily="34" charset="-120"/>
              </a:rPr>
              <a:t>06</a:t>
            </a:r>
            <a:endParaRPr lang="en-US" sz="1300" dirty="0"/>
          </a:p>
        </p:txBody>
      </p:sp>
      <p:sp>
        <p:nvSpPr>
          <p:cNvPr id="43" name="Text 41"/>
          <p:cNvSpPr/>
          <p:nvPr/>
        </p:nvSpPr>
        <p:spPr>
          <a:xfrm>
            <a:off x="6720840" y="3017520"/>
            <a:ext cx="2011680" cy="347472"/>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KNN</a:t>
            </a:r>
            <a:endParaRPr lang="en-US" sz="1300" dirty="0"/>
          </a:p>
        </p:txBody>
      </p:sp>
      <p:sp>
        <p:nvSpPr>
          <p:cNvPr id="44" name="Shape 42"/>
          <p:cNvSpPr/>
          <p:nvPr/>
        </p:nvSpPr>
        <p:spPr>
          <a:xfrm>
            <a:off x="6720840" y="3383280"/>
            <a:ext cx="1097280" cy="228600"/>
          </a:xfrm>
          <a:prstGeom prst="rect">
            <a:avLst/>
          </a:prstGeom>
          <a:solidFill>
            <a:srgbClr val="000000"/>
          </a:solidFill>
          <a:ln w="6350">
            <a:solidFill>
              <a:srgbClr val="94A3B8"/>
            </a:solidFill>
            <a:prstDash val="solid"/>
          </a:ln>
        </p:spPr>
      </p:sp>
      <p:sp>
        <p:nvSpPr>
          <p:cNvPr id="45" name="Text 43"/>
          <p:cNvSpPr/>
          <p:nvPr/>
        </p:nvSpPr>
        <p:spPr>
          <a:xfrm>
            <a:off x="6720840" y="3383280"/>
            <a:ext cx="1097280" cy="228600"/>
          </a:xfrm>
          <a:prstGeom prst="rect">
            <a:avLst/>
          </a:prstGeom>
          <a:noFill/>
        </p:spPr>
        <p:txBody>
          <a:bodyPr wrap="square" lIns="0" tIns="0" rIns="0" bIns="0" rtlCol="0" anchor="ctr"/>
          <a:lstStyle/>
          <a:p>
            <a:pPr marL="0" indent="0" algn="ctr">
              <a:buNone/>
            </a:pPr>
            <a:r>
              <a:rPr lang="en-US" sz="900" dirty="0">
                <a:solidFill>
                  <a:srgbClr val="94A3B8"/>
                </a:solidFill>
                <a:latin typeface="Calibri" panose="020F0502020204030204" pitchFamily="34" charset="0"/>
                <a:ea typeface="Calibri" panose="020F0502020204030204" pitchFamily="34" charset="-122"/>
                <a:cs typeface="Calibri" panose="020F0502020204030204" pitchFamily="34" charset="-120"/>
              </a:rPr>
              <a:t>Distancia</a:t>
            </a:r>
            <a:endParaRPr lang="en-US" sz="900" dirty="0"/>
          </a:p>
        </p:txBody>
      </p:sp>
      <p:sp>
        <p:nvSpPr>
          <p:cNvPr id="46" name="Text 44"/>
          <p:cNvSpPr/>
          <p:nvPr/>
        </p:nvSpPr>
        <p:spPr>
          <a:xfrm>
            <a:off x="6263640" y="3749040"/>
            <a:ext cx="2468880" cy="59436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Similitud local</a:t>
            </a:r>
            <a:endParaRPr lang="en-US" sz="1100" dirty="0"/>
          </a:p>
        </p:txBody>
      </p:sp>
      <p:sp>
        <p:nvSpPr>
          <p:cNvPr id="47" name="Shape 45"/>
          <p:cNvSpPr/>
          <p:nvPr/>
        </p:nvSpPr>
        <p:spPr>
          <a:xfrm>
            <a:off x="274320" y="4754880"/>
            <a:ext cx="8641080" cy="228600"/>
          </a:xfrm>
          <a:prstGeom prst="rect">
            <a:avLst/>
          </a:prstGeom>
          <a:solidFill>
            <a:srgbClr val="131D2E"/>
          </a:solidFill>
          <a:ln w="12700">
            <a:solidFill>
              <a:srgbClr val="1E3A5A"/>
            </a:solidFill>
            <a:prstDash val="solid"/>
          </a:ln>
        </p:spPr>
      </p:sp>
      <p:sp>
        <p:nvSpPr>
          <p:cNvPr id="48" name="Text 46"/>
          <p:cNvSpPr/>
          <p:nvPr/>
        </p:nvSpPr>
        <p:spPr>
          <a:xfrm>
            <a:off x="365760" y="4773168"/>
            <a:ext cx="8412480" cy="201168"/>
          </a:xfrm>
          <a:prstGeom prst="rect">
            <a:avLst/>
          </a:prstGeom>
          <a:noFill/>
        </p:spPr>
        <p:txBody>
          <a:bodyPr wrap="square" lIns="0" tIns="0" rIns="0" bIns="0" rtlCol="0" anchor="ctr"/>
          <a:lstStyle/>
          <a:p>
            <a:pPr marL="0" indent="0" algn="ctr">
              <a:buNone/>
            </a:pPr>
            <a:r>
              <a:rPr lang="en-US" sz="950" dirty="0">
                <a:solidFill>
                  <a:srgbClr val="0EA5E9"/>
                </a:solidFill>
                <a:latin typeface="Calibri" panose="020F0502020204030204" pitchFamily="34" charset="0"/>
                <a:ea typeface="Calibri" panose="020F0502020204030204" pitchFamily="34" charset="-122"/>
                <a:cs typeface="Calibri" panose="020F0502020204030204" pitchFamily="34" charset="-120"/>
              </a:rPr>
              <a:t>Anti-leakage: StandardScaler ajustado solo en X_train dentro del Pipeline · TimeSeriesSplit respeta el orden cronológico</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Text 1"/>
          <p:cNvSpPr/>
          <p:nvPr/>
        </p:nvSpPr>
        <p:spPr>
          <a:xfrm>
            <a:off x="274320" y="164592"/>
            <a:ext cx="8595360" cy="530352"/>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GridSearchCV — Comparativa ROC-AUC y F1</a:t>
            </a:r>
            <a:endParaRPr lang="en-US" sz="2800" dirty="0"/>
          </a:p>
        </p:txBody>
      </p:sp>
      <p:sp>
        <p:nvSpPr>
          <p:cNvPr id="4" name="Text 2"/>
          <p:cNvSpPr/>
          <p:nvPr/>
        </p:nvSpPr>
        <p:spPr>
          <a:xfrm>
            <a:off x="274320" y="713232"/>
            <a:ext cx="8595360" cy="292608"/>
          </a:xfrm>
          <a:prstGeom prst="rect">
            <a:avLst/>
          </a:prstGeom>
          <a:noFill/>
        </p:spPr>
        <p:txBody>
          <a:bodyPr wrap="square" lIns="0" tIns="0" rIns="0" bIns="0" rtlCol="0" anchor="ctr"/>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6 modelos × 3 timeframes · TimeSeriesSplit(n_splits=3) · scoring=roc_auc</a:t>
            </a:r>
            <a:endParaRPr lang="en-US" sz="1300" dirty="0"/>
          </a:p>
        </p:txBody>
      </p:sp>
      <p:pic>
        <p:nvPicPr>
          <p:cNvPr id="5" name="Image 0" descr="/home/claude/models_heatmap.png"/>
          <p:cNvPicPr>
            <a:picLocks noChangeAspect="1"/>
          </p:cNvPicPr>
          <p:nvPr/>
        </p:nvPicPr>
        <p:blipFill>
          <a:blip r:embed="rId1"/>
          <a:stretch>
            <a:fillRect/>
          </a:stretch>
        </p:blipFill>
        <p:spPr>
          <a:xfrm>
            <a:off x="274320" y="960120"/>
            <a:ext cx="8641080" cy="3291840"/>
          </a:xfrm>
          <a:prstGeom prst="rect">
            <a:avLst/>
          </a:prstGeom>
        </p:spPr>
      </p:pic>
      <p:sp>
        <p:nvSpPr>
          <p:cNvPr id="6" name="Shape 3"/>
          <p:cNvSpPr/>
          <p:nvPr/>
        </p:nvSpPr>
        <p:spPr>
          <a:xfrm>
            <a:off x="274320" y="4389120"/>
            <a:ext cx="8641080" cy="594360"/>
          </a:xfrm>
          <a:prstGeom prst="rect">
            <a:avLst/>
          </a:prstGeom>
          <a:solidFill>
            <a:srgbClr val="131D2E"/>
          </a:solidFill>
          <a:ln w="12700">
            <a:solidFill>
              <a:srgbClr val="F59E0B"/>
            </a:solidFill>
            <a:prstDash val="solid"/>
          </a:ln>
          <a:effectLst>
            <a:outerShdw blurRad="76200" dist="38100" dir="8100000" algn="bl" rotWithShape="0">
              <a:srgbClr val="000000">
                <a:alpha val="30000"/>
              </a:srgbClr>
            </a:outerShdw>
          </a:effectLst>
        </p:spPr>
      </p:sp>
      <p:sp>
        <p:nvSpPr>
          <p:cNvPr id="7" name="Text 4"/>
          <p:cNvSpPr/>
          <p:nvPr/>
        </p:nvSpPr>
        <p:spPr>
          <a:xfrm>
            <a:off x="457200" y="4462272"/>
            <a:ext cx="8229600" cy="411480"/>
          </a:xfrm>
          <a:prstGeom prst="rect">
            <a:avLst/>
          </a:prstGeom>
          <a:noFill/>
        </p:spPr>
        <p:txBody>
          <a:bodyPr wrap="square" lIns="0" tIns="0" rIns="0" bIns="0" rtlCol="0" anchor="ctr"/>
          <a:lstStyle/>
          <a:p>
            <a:pPr marL="0" indent="0" algn="ctr">
              <a:buNone/>
            </a:pPr>
            <a:r>
              <a:rPr lang="en-US" sz="1300" b="1" dirty="0">
                <a:solidFill>
                  <a:srgbClr val="F59E0B"/>
                </a:solidFill>
                <a:latin typeface="Calibri" panose="020F0502020204030204" pitchFamily="34" charset="0"/>
                <a:ea typeface="Calibri" panose="020F0502020204030204" pitchFamily="34" charset="-122"/>
                <a:cs typeface="Calibri" panose="020F0502020204030204" pitchFamily="34" charset="-120"/>
              </a:rPr>
              <a:t>💡  Todos los modelos convergen entre 0.50 y 0.53 — confirmando que la dificultad no es el algoritmo, sino el problema en sí</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Text 1"/>
          <p:cNvSpPr/>
          <p:nvPr/>
        </p:nvSpPr>
        <p:spPr>
          <a:xfrm>
            <a:off x="274320" y="164592"/>
            <a:ext cx="8595360" cy="530352"/>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 · Comparativa Visual de Modelos</a:t>
            </a:r>
            <a:endParaRPr lang="en-US" sz="2800" dirty="0"/>
          </a:p>
        </p:txBody>
      </p:sp>
      <p:sp>
        <p:nvSpPr>
          <p:cNvPr id="4" name="Text 2"/>
          <p:cNvSpPr/>
          <p:nvPr/>
        </p:nvSpPr>
        <p:spPr>
          <a:xfrm>
            <a:off x="274320" y="713232"/>
            <a:ext cx="8595360" cy="292608"/>
          </a:xfrm>
          <a:prstGeom prst="rect">
            <a:avLst/>
          </a:prstGeom>
          <a:noFill/>
        </p:spPr>
        <p:txBody>
          <a:bodyPr wrap="square" lIns="0" tIns="0" rIns="0" bIns="0" rtlCol="0" anchor="ctr"/>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ROC-AUC y F1-Macro · sin diferencias significativas entre modelos</a:t>
            </a:r>
            <a:endParaRPr lang="en-US" sz="1300" dirty="0"/>
          </a:p>
        </p:txBody>
      </p:sp>
      <p:pic>
        <p:nvPicPr>
          <p:cNvPr id="5" name="Image 0" descr="/home/claude/models_comparison_bar.png"/>
          <p:cNvPicPr>
            <a:picLocks noChangeAspect="1"/>
          </p:cNvPicPr>
          <p:nvPr/>
        </p:nvPicPr>
        <p:blipFill>
          <a:blip r:embed="rId1"/>
          <a:stretch>
            <a:fillRect/>
          </a:stretch>
        </p:blipFill>
        <p:spPr>
          <a:xfrm>
            <a:off x="274320" y="960120"/>
            <a:ext cx="8641080" cy="3291840"/>
          </a:xfrm>
          <a:prstGeom prst="rect">
            <a:avLst/>
          </a:prstGeom>
        </p:spPr>
      </p:pic>
      <p:sp>
        <p:nvSpPr>
          <p:cNvPr id="6" name="Shape 3"/>
          <p:cNvSpPr/>
          <p:nvPr/>
        </p:nvSpPr>
        <p:spPr>
          <a:xfrm>
            <a:off x="274320" y="4389120"/>
            <a:ext cx="4206240" cy="594360"/>
          </a:xfrm>
          <a:prstGeom prst="rect">
            <a:avLst/>
          </a:prstGeom>
          <a:solidFill>
            <a:srgbClr val="131D2E"/>
          </a:solidFill>
          <a:ln w="12700">
            <a:solidFill>
              <a:srgbClr val="EF4444"/>
            </a:solidFill>
            <a:prstDash val="solid"/>
          </a:ln>
          <a:effectLst>
            <a:outerShdw blurRad="76200" dist="38100" dir="8100000" algn="bl" rotWithShape="0">
              <a:srgbClr val="000000">
                <a:alpha val="30000"/>
              </a:srgbClr>
            </a:outerShdw>
          </a:effectLst>
        </p:spPr>
      </p:sp>
      <p:sp>
        <p:nvSpPr>
          <p:cNvPr id="7" name="Text 4"/>
          <p:cNvSpPr/>
          <p:nvPr/>
        </p:nvSpPr>
        <p:spPr>
          <a:xfrm>
            <a:off x="411480" y="4462272"/>
            <a:ext cx="3931920" cy="411480"/>
          </a:xfrm>
          <a:prstGeom prst="rect">
            <a:avLst/>
          </a:prstGeom>
          <a:noFill/>
        </p:spPr>
        <p:txBody>
          <a:bodyPr wrap="square" lIns="0" tIns="0" rIns="0" bIns="0" rtlCol="0" anchor="ctr"/>
          <a:lstStyle/>
          <a:p>
            <a:pPr marL="0" indent="0">
              <a:buNone/>
            </a:pPr>
            <a:r>
              <a:rPr lang="en-US" sz="1100" dirty="0">
                <a:solidFill>
                  <a:srgbClr val="EF4444"/>
                </a:solidFill>
                <a:latin typeface="Calibri" panose="020F0502020204030204" pitchFamily="34" charset="0"/>
                <a:ea typeface="Calibri" panose="020F0502020204030204" pitchFamily="34" charset="-122"/>
                <a:cs typeface="Calibri" panose="020F0502020204030204" pitchFamily="34" charset="-120"/>
              </a:rPr>
              <a:t>❌  ROC-AUC ~0.52  ningún modelo supera significativamente el azar</a:t>
            </a:r>
            <a:endParaRPr lang="en-US" sz="1100" dirty="0"/>
          </a:p>
        </p:txBody>
      </p:sp>
      <p:sp>
        <p:nvSpPr>
          <p:cNvPr id="8" name="Shape 5"/>
          <p:cNvSpPr/>
          <p:nvPr/>
        </p:nvSpPr>
        <p:spPr>
          <a:xfrm>
            <a:off x="4663440" y="4389120"/>
            <a:ext cx="4251960" cy="594360"/>
          </a:xfrm>
          <a:prstGeom prst="rect">
            <a:avLst/>
          </a:prstGeom>
          <a:solidFill>
            <a:srgbClr val="131D2E"/>
          </a:solidFill>
          <a:ln w="12700">
            <a:solidFill>
              <a:srgbClr val="0EA5E9"/>
            </a:solidFill>
            <a:prstDash val="solid"/>
          </a:ln>
          <a:effectLst>
            <a:outerShdw blurRad="76200" dist="38100" dir="8100000" algn="bl" rotWithShape="0">
              <a:srgbClr val="000000">
                <a:alpha val="30000"/>
              </a:srgbClr>
            </a:outerShdw>
          </a:effectLst>
        </p:spPr>
      </p:sp>
      <p:sp>
        <p:nvSpPr>
          <p:cNvPr id="9" name="Text 6"/>
          <p:cNvSpPr/>
          <p:nvPr/>
        </p:nvSpPr>
        <p:spPr>
          <a:xfrm>
            <a:off x="4800600" y="4462272"/>
            <a:ext cx="3931920" cy="411480"/>
          </a:xfrm>
          <a:prstGeom prst="rect">
            <a:avLst/>
          </a:prstGeom>
          <a:noFill/>
        </p:spPr>
        <p:txBody>
          <a:bodyPr wrap="square" lIns="0" tIns="0" rIns="0" bIns="0" rtlCol="0" anchor="ctr"/>
          <a:lstStyle/>
          <a:p>
            <a:pPr marL="0" indent="0">
              <a:buNone/>
            </a:pPr>
            <a:r>
              <a:rPr lang="en-US" sz="1100" dirty="0">
                <a:solidFill>
                  <a:srgbClr val="0EA5E9"/>
                </a:solidFill>
                <a:latin typeface="Calibri" panose="020F0502020204030204" pitchFamily="34" charset="0"/>
                <a:ea typeface="Calibri" panose="020F0502020204030204" pitchFamily="34" charset="-122"/>
                <a:cs typeface="Calibri" panose="020F0502020204030204" pitchFamily="34" charset="-120"/>
              </a:rPr>
              <a:t>✅  H4 &gt; D1 &gt; H1 · timeframes más largos tienen más señal real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Text 1"/>
          <p:cNvSpPr/>
          <p:nvPr/>
        </p:nvSpPr>
        <p:spPr>
          <a:xfrm>
            <a:off x="274320" y="164592"/>
            <a:ext cx="8595360" cy="530352"/>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 · Mejor Modelo — XGBoost (D1)</a:t>
            </a:r>
            <a:endParaRPr lang="en-US" sz="2800" dirty="0"/>
          </a:p>
        </p:txBody>
      </p:sp>
      <p:sp>
        <p:nvSpPr>
          <p:cNvPr id="4" name="Text 2"/>
          <p:cNvSpPr/>
          <p:nvPr/>
        </p:nvSpPr>
        <p:spPr>
          <a:xfrm>
            <a:off x="274320" y="713232"/>
            <a:ext cx="8595360" cy="292608"/>
          </a:xfrm>
          <a:prstGeom prst="rect">
            <a:avLst/>
          </a:prstGeom>
          <a:noFill/>
        </p:spPr>
        <p:txBody>
          <a:bodyPr wrap="square" lIns="0" tIns="0" rIns="0" bIns="0" rtlCol="0" anchor="ctr"/>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ROC-AUC = 0.5389 · Evaluación Out-of-Sample</a:t>
            </a:r>
            <a:endParaRPr lang="en-US" sz="1300" dirty="0"/>
          </a:p>
        </p:txBody>
      </p:sp>
      <p:pic>
        <p:nvPicPr>
          <p:cNvPr id="5" name="Image 0" descr="/home/claude/roc_curves.png"/>
          <p:cNvPicPr>
            <a:picLocks noChangeAspect="1"/>
          </p:cNvPicPr>
          <p:nvPr/>
        </p:nvPicPr>
        <p:blipFill>
          <a:blip r:embed="rId1"/>
          <a:stretch>
            <a:fillRect/>
          </a:stretch>
        </p:blipFill>
        <p:spPr>
          <a:xfrm>
            <a:off x="274320" y="960120"/>
            <a:ext cx="4114800" cy="3977640"/>
          </a:xfrm>
          <a:prstGeom prst="rect">
            <a:avLst/>
          </a:prstGeom>
        </p:spPr>
      </p:pic>
      <p:pic>
        <p:nvPicPr>
          <p:cNvPr id="6" name="Image 1" descr="/home/claude/confusion_matrices.png"/>
          <p:cNvPicPr>
            <a:picLocks noChangeAspect="1"/>
          </p:cNvPicPr>
          <p:nvPr/>
        </p:nvPicPr>
        <p:blipFill>
          <a:blip r:embed="rId2"/>
          <a:stretch>
            <a:fillRect/>
          </a:stretch>
        </p:blipFill>
        <p:spPr>
          <a:xfrm>
            <a:off x="4526280" y="960120"/>
            <a:ext cx="4389120" cy="1920240"/>
          </a:xfrm>
          <a:prstGeom prst="rect">
            <a:avLst/>
          </a:prstGeom>
        </p:spPr>
      </p:pic>
      <p:sp>
        <p:nvSpPr>
          <p:cNvPr id="7" name="Shape 3"/>
          <p:cNvSpPr/>
          <p:nvPr/>
        </p:nvSpPr>
        <p:spPr>
          <a:xfrm>
            <a:off x="4526280" y="3017520"/>
            <a:ext cx="2011680" cy="1691640"/>
          </a:xfrm>
          <a:prstGeom prst="rect">
            <a:avLst/>
          </a:prstGeom>
          <a:solidFill>
            <a:srgbClr val="131D2E"/>
          </a:solidFill>
          <a:ln w="12700">
            <a:solidFill>
              <a:srgbClr val="F59E0B"/>
            </a:solidFill>
            <a:prstDash val="solid"/>
          </a:ln>
          <a:effectLst>
            <a:outerShdw blurRad="76200" dist="38100" dir="8100000" algn="bl" rotWithShape="0">
              <a:srgbClr val="000000">
                <a:alpha val="30000"/>
              </a:srgbClr>
            </a:outerShdw>
          </a:effectLst>
        </p:spPr>
      </p:sp>
      <p:sp>
        <p:nvSpPr>
          <p:cNvPr id="8" name="Text 4"/>
          <p:cNvSpPr/>
          <p:nvPr/>
        </p:nvSpPr>
        <p:spPr>
          <a:xfrm>
            <a:off x="4526280" y="3127248"/>
            <a:ext cx="2011680" cy="292608"/>
          </a:xfrm>
          <a:prstGeom prst="rect">
            <a:avLst/>
          </a:prstGeom>
          <a:noFill/>
        </p:spPr>
        <p:txBody>
          <a:bodyPr wrap="square" lIns="0" tIns="0" rIns="0" bIns="0" rtlCol="0" anchor="ctr"/>
          <a:lstStyle/>
          <a:p>
            <a:pPr marL="0" indent="0" algn="ctr">
              <a:buNone/>
            </a:pPr>
            <a:r>
              <a:rPr lang="en-US" sz="1200" dirty="0">
                <a:solidFill>
                  <a:srgbClr val="F59E0B"/>
                </a:solidFill>
                <a:latin typeface="Calibri" panose="020F0502020204030204" pitchFamily="34" charset="0"/>
                <a:ea typeface="Calibri" panose="020F0502020204030204" pitchFamily="34" charset="-122"/>
                <a:cs typeface="Calibri" panose="020F0502020204030204" pitchFamily="34" charset="-120"/>
              </a:rPr>
              <a:t>ROC-AUC</a:t>
            </a:r>
            <a:endParaRPr lang="en-US" sz="1200" dirty="0"/>
          </a:p>
        </p:txBody>
      </p:sp>
      <p:sp>
        <p:nvSpPr>
          <p:cNvPr id="9" name="Text 5"/>
          <p:cNvSpPr/>
          <p:nvPr/>
        </p:nvSpPr>
        <p:spPr>
          <a:xfrm>
            <a:off x="4526280" y="3456432"/>
            <a:ext cx="2011680" cy="502920"/>
          </a:xfrm>
          <a:prstGeom prst="rect">
            <a:avLst/>
          </a:prstGeom>
          <a:noFill/>
        </p:spPr>
        <p:txBody>
          <a:bodyPr wrap="square" lIns="0" tIns="0" rIns="0" bIns="0" rtlCol="0" anchor="ctr"/>
          <a:lstStyle/>
          <a:p>
            <a:pPr marL="0" indent="0" algn="ctr">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0.539</a:t>
            </a:r>
            <a:endParaRPr lang="en-US" sz="3000" dirty="0"/>
          </a:p>
        </p:txBody>
      </p:sp>
      <p:sp>
        <p:nvSpPr>
          <p:cNvPr id="10" name="Text 6"/>
          <p:cNvSpPr/>
          <p:nvPr/>
        </p:nvSpPr>
        <p:spPr>
          <a:xfrm>
            <a:off x="4526280" y="3977640"/>
            <a:ext cx="2011680" cy="228600"/>
          </a:xfrm>
          <a:prstGeom prst="rect">
            <a:avLst/>
          </a:prstGeom>
          <a:noFill/>
        </p:spPr>
        <p:txBody>
          <a:bodyPr wrap="square" lIns="0" tIns="0" rIns="0" bIns="0" rtlCol="0" anchor="ctr"/>
          <a:lstStyle/>
          <a:p>
            <a:pPr marL="0" indent="0" algn="ctr">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OOS — test set</a:t>
            </a:r>
            <a:endParaRPr lang="en-US" sz="1000" dirty="0"/>
          </a:p>
        </p:txBody>
      </p:sp>
      <p:sp>
        <p:nvSpPr>
          <p:cNvPr id="11" name="Shape 7"/>
          <p:cNvSpPr/>
          <p:nvPr/>
        </p:nvSpPr>
        <p:spPr>
          <a:xfrm>
            <a:off x="6720840" y="3017520"/>
            <a:ext cx="2011680" cy="1691640"/>
          </a:xfrm>
          <a:prstGeom prst="rect">
            <a:avLst/>
          </a:prstGeom>
          <a:solidFill>
            <a:srgbClr val="131D2E"/>
          </a:solidFill>
          <a:ln w="12700">
            <a:solidFill>
              <a:srgbClr val="0EA5E9"/>
            </a:solidFill>
            <a:prstDash val="solid"/>
          </a:ln>
          <a:effectLst>
            <a:outerShdw blurRad="76200" dist="38100" dir="8100000" algn="bl" rotWithShape="0">
              <a:srgbClr val="000000">
                <a:alpha val="30000"/>
              </a:srgbClr>
            </a:outerShdw>
          </a:effectLst>
        </p:spPr>
      </p:sp>
      <p:sp>
        <p:nvSpPr>
          <p:cNvPr id="12" name="Text 8"/>
          <p:cNvSpPr/>
          <p:nvPr/>
        </p:nvSpPr>
        <p:spPr>
          <a:xfrm>
            <a:off x="6720840" y="3127248"/>
            <a:ext cx="2011680" cy="292608"/>
          </a:xfrm>
          <a:prstGeom prst="rect">
            <a:avLst/>
          </a:prstGeom>
          <a:noFill/>
        </p:spPr>
        <p:txBody>
          <a:bodyPr wrap="square" lIns="0" tIns="0" rIns="0" bIns="0" rtlCol="0" anchor="ctr"/>
          <a:lstStyle/>
          <a:p>
            <a:pPr marL="0" indent="0" algn="ctr">
              <a:buNone/>
            </a:pPr>
            <a:r>
              <a:rPr lang="en-US" sz="1200" dirty="0">
                <a:solidFill>
                  <a:srgbClr val="0EA5E9"/>
                </a:solidFill>
                <a:latin typeface="Calibri" panose="020F0502020204030204" pitchFamily="34" charset="0"/>
                <a:ea typeface="Calibri" panose="020F0502020204030204" pitchFamily="34" charset="-122"/>
                <a:cs typeface="Calibri" panose="020F0502020204030204" pitchFamily="34" charset="-120"/>
              </a:rPr>
              <a:t>F1-Macro</a:t>
            </a:r>
            <a:endParaRPr lang="en-US" sz="1200" dirty="0"/>
          </a:p>
        </p:txBody>
      </p:sp>
      <p:sp>
        <p:nvSpPr>
          <p:cNvPr id="13" name="Text 9"/>
          <p:cNvSpPr/>
          <p:nvPr/>
        </p:nvSpPr>
        <p:spPr>
          <a:xfrm>
            <a:off x="6720840" y="3456432"/>
            <a:ext cx="2011680" cy="502920"/>
          </a:xfrm>
          <a:prstGeom prst="rect">
            <a:avLst/>
          </a:prstGeom>
          <a:noFill/>
        </p:spPr>
        <p:txBody>
          <a:bodyPr wrap="square" lIns="0" tIns="0" rIns="0" bIns="0" rtlCol="0" anchor="ctr"/>
          <a:lstStyle/>
          <a:p>
            <a:pPr marL="0" indent="0" algn="ctr">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0.503</a:t>
            </a:r>
            <a:endParaRPr lang="en-US" sz="3000" dirty="0"/>
          </a:p>
        </p:txBody>
      </p:sp>
      <p:sp>
        <p:nvSpPr>
          <p:cNvPr id="14" name="Text 10"/>
          <p:cNvSpPr/>
          <p:nvPr/>
        </p:nvSpPr>
        <p:spPr>
          <a:xfrm>
            <a:off x="6720840" y="3977640"/>
            <a:ext cx="2011680" cy="228600"/>
          </a:xfrm>
          <a:prstGeom prst="rect">
            <a:avLst/>
          </a:prstGeom>
          <a:noFill/>
        </p:spPr>
        <p:txBody>
          <a:bodyPr wrap="square" lIns="0" tIns="0" rIns="0" bIns="0" rtlCol="0" anchor="ctr"/>
          <a:lstStyle/>
          <a:p>
            <a:pPr marL="0" indent="0" algn="ctr">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OOS — test set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Text 1"/>
          <p:cNvSpPr/>
          <p:nvPr/>
        </p:nvSpPr>
        <p:spPr>
          <a:xfrm>
            <a:off x="274320" y="164592"/>
            <a:ext cx="8595360" cy="530352"/>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 Importance — XGBoost D1</a:t>
            </a:r>
            <a:endParaRPr lang="en-US" sz="2800" dirty="0"/>
          </a:p>
        </p:txBody>
      </p:sp>
      <p:sp>
        <p:nvSpPr>
          <p:cNvPr id="4" name="Text 2"/>
          <p:cNvSpPr/>
          <p:nvPr/>
        </p:nvSpPr>
        <p:spPr>
          <a:xfrm>
            <a:off x="274320" y="713232"/>
            <a:ext cx="8595360" cy="292608"/>
          </a:xfrm>
          <a:prstGeom prst="rect">
            <a:avLst/>
          </a:prstGeom>
          <a:noFill/>
        </p:spPr>
        <p:txBody>
          <a:bodyPr wrap="square" lIns="0" tIns="0" rIns="0" bIns="0" rtlCol="0" anchor="ctr"/>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Top 30 variables · 🟠=EMA  🔵=DXY  🟣=Régimen</a:t>
            </a:r>
            <a:endParaRPr lang="en-US" sz="1300" dirty="0"/>
          </a:p>
        </p:txBody>
      </p:sp>
      <p:pic>
        <p:nvPicPr>
          <p:cNvPr id="5" name="Image 0" descr="/home/claude/feature_importance.png"/>
          <p:cNvPicPr>
            <a:picLocks noChangeAspect="1"/>
          </p:cNvPicPr>
          <p:nvPr/>
        </p:nvPicPr>
        <p:blipFill>
          <a:blip r:embed="rId1"/>
          <a:stretch>
            <a:fillRect/>
          </a:stretch>
        </p:blipFill>
        <p:spPr>
          <a:xfrm>
            <a:off x="274320" y="960120"/>
            <a:ext cx="6400800" cy="3977640"/>
          </a:xfrm>
          <a:prstGeom prst="rect">
            <a:avLst/>
          </a:prstGeom>
        </p:spPr>
      </p:pic>
      <p:sp>
        <p:nvSpPr>
          <p:cNvPr id="6" name="Shape 3"/>
          <p:cNvSpPr/>
          <p:nvPr/>
        </p:nvSpPr>
        <p:spPr>
          <a:xfrm>
            <a:off x="6812280" y="960120"/>
            <a:ext cx="2103120" cy="868680"/>
          </a:xfrm>
          <a:prstGeom prst="rect">
            <a:avLst/>
          </a:prstGeom>
          <a:solidFill>
            <a:srgbClr val="131D2E"/>
          </a:solidFill>
          <a:ln w="12700">
            <a:solidFill>
              <a:srgbClr val="F59E0B"/>
            </a:solidFill>
            <a:prstDash val="solid"/>
          </a:ln>
          <a:effectLst>
            <a:outerShdw blurRad="76200" dist="38100" dir="8100000" algn="bl" rotWithShape="0">
              <a:srgbClr val="000000">
                <a:alpha val="30000"/>
              </a:srgbClr>
            </a:outerShdw>
          </a:effectLst>
        </p:spPr>
      </p:sp>
      <p:sp>
        <p:nvSpPr>
          <p:cNvPr id="7" name="Text 4"/>
          <p:cNvSpPr/>
          <p:nvPr/>
        </p:nvSpPr>
        <p:spPr>
          <a:xfrm>
            <a:off x="6949440" y="1033272"/>
            <a:ext cx="1828800" cy="274320"/>
          </a:xfrm>
          <a:prstGeom prst="rect">
            <a:avLst/>
          </a:prstGeom>
          <a:noFill/>
        </p:spPr>
        <p:txBody>
          <a:bodyPr wrap="square" lIns="0" tIns="0" rIns="0" bIns="0" rtlCol="0" anchor="ctr"/>
          <a:lstStyle/>
          <a:p>
            <a:pPr marL="0" indent="0">
              <a:buNone/>
            </a:pPr>
            <a:r>
              <a:rPr lang="en-US" sz="1200" b="1" dirty="0">
                <a:solidFill>
                  <a:srgbClr val="F59E0B"/>
                </a:solidFill>
                <a:latin typeface="Calibri" panose="020F0502020204030204" pitchFamily="34" charset="0"/>
                <a:ea typeface="Calibri" panose="020F0502020204030204" pitchFamily="34" charset="-122"/>
                <a:cs typeface="Calibri" panose="020F0502020204030204" pitchFamily="34" charset="-120"/>
              </a:rPr>
              <a:t>EMA 13/45</a:t>
            </a:r>
            <a:endParaRPr lang="en-US" sz="1200" dirty="0"/>
          </a:p>
        </p:txBody>
      </p:sp>
      <p:sp>
        <p:nvSpPr>
          <p:cNvPr id="8" name="Text 5"/>
          <p:cNvSpPr/>
          <p:nvPr/>
        </p:nvSpPr>
        <p:spPr>
          <a:xfrm>
            <a:off x="6949440" y="1335024"/>
            <a:ext cx="1828800" cy="320040"/>
          </a:xfrm>
          <a:prstGeom prst="rect">
            <a:avLst/>
          </a:prstGeom>
          <a:noFill/>
        </p:spPr>
        <p:txBody>
          <a:bodyPr wrap="square" lIns="0" tIns="0" rIns="0" bIns="0"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a:t>
            </a:r>
            <a:endParaRPr lang="en-US" sz="1800" dirty="0"/>
          </a:p>
        </p:txBody>
      </p:sp>
      <p:sp>
        <p:nvSpPr>
          <p:cNvPr id="9" name="Shape 6"/>
          <p:cNvSpPr/>
          <p:nvPr/>
        </p:nvSpPr>
        <p:spPr>
          <a:xfrm>
            <a:off x="6812280" y="1947672"/>
            <a:ext cx="2103120" cy="868680"/>
          </a:xfrm>
          <a:prstGeom prst="rect">
            <a:avLst/>
          </a:prstGeom>
          <a:solidFill>
            <a:srgbClr val="131D2E"/>
          </a:solidFill>
          <a:ln w="12700">
            <a:solidFill>
              <a:srgbClr val="0EA5E9"/>
            </a:solidFill>
            <a:prstDash val="solid"/>
          </a:ln>
          <a:effectLst>
            <a:outerShdw blurRad="76200" dist="38100" dir="8100000" algn="bl" rotWithShape="0">
              <a:srgbClr val="000000">
                <a:alpha val="30000"/>
              </a:srgbClr>
            </a:outerShdw>
          </a:effectLst>
        </p:spPr>
      </p:sp>
      <p:sp>
        <p:nvSpPr>
          <p:cNvPr id="10" name="Text 7"/>
          <p:cNvSpPr/>
          <p:nvPr/>
        </p:nvSpPr>
        <p:spPr>
          <a:xfrm>
            <a:off x="6949440" y="2020824"/>
            <a:ext cx="1828800" cy="274320"/>
          </a:xfrm>
          <a:prstGeom prst="rect">
            <a:avLst/>
          </a:prstGeom>
          <a:noFill/>
        </p:spPr>
        <p:txBody>
          <a:bodyPr wrap="square" lIns="0" tIns="0" rIns="0" bIns="0" rtlCol="0" anchor="ctr"/>
          <a:lstStyle/>
          <a:p>
            <a:pPr marL="0" indent="0">
              <a:buNone/>
            </a:pPr>
            <a:r>
              <a:rPr lang="en-US" sz="1200" b="1" dirty="0">
                <a:solidFill>
                  <a:srgbClr val="0EA5E9"/>
                </a:solidFill>
                <a:latin typeface="Calibri" panose="020F0502020204030204" pitchFamily="34" charset="0"/>
                <a:ea typeface="Calibri" panose="020F0502020204030204" pitchFamily="34" charset="-122"/>
                <a:cs typeface="Calibri" panose="020F0502020204030204" pitchFamily="34" charset="-120"/>
              </a:rPr>
              <a:t>DXY macro</a:t>
            </a:r>
            <a:endParaRPr lang="en-US" sz="1200" dirty="0"/>
          </a:p>
        </p:txBody>
      </p:sp>
      <p:sp>
        <p:nvSpPr>
          <p:cNvPr id="11" name="Text 8"/>
          <p:cNvSpPr/>
          <p:nvPr/>
        </p:nvSpPr>
        <p:spPr>
          <a:xfrm>
            <a:off x="6949440" y="2322576"/>
            <a:ext cx="1828800" cy="320040"/>
          </a:xfrm>
          <a:prstGeom prst="rect">
            <a:avLst/>
          </a:prstGeom>
          <a:noFill/>
        </p:spPr>
        <p:txBody>
          <a:bodyPr wrap="square" lIns="0" tIns="0" rIns="0" bIns="0"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a:t>
            </a:r>
            <a:endParaRPr lang="en-US" sz="1800" dirty="0"/>
          </a:p>
        </p:txBody>
      </p:sp>
      <p:sp>
        <p:nvSpPr>
          <p:cNvPr id="12" name="Shape 9"/>
          <p:cNvSpPr/>
          <p:nvPr/>
        </p:nvSpPr>
        <p:spPr>
          <a:xfrm>
            <a:off x="6812280" y="2935224"/>
            <a:ext cx="2103120" cy="868680"/>
          </a:xfrm>
          <a:prstGeom prst="rect">
            <a:avLst/>
          </a:prstGeom>
          <a:solidFill>
            <a:srgbClr val="131D2E"/>
          </a:solidFill>
          <a:ln w="12700">
            <a:solidFill>
              <a:srgbClr val="9B59B6"/>
            </a:solidFill>
            <a:prstDash val="solid"/>
          </a:ln>
          <a:effectLst>
            <a:outerShdw blurRad="76200" dist="38100" dir="8100000" algn="bl" rotWithShape="0">
              <a:srgbClr val="000000">
                <a:alpha val="30000"/>
              </a:srgbClr>
            </a:outerShdw>
          </a:effectLst>
        </p:spPr>
      </p:sp>
      <p:sp>
        <p:nvSpPr>
          <p:cNvPr id="13" name="Text 10"/>
          <p:cNvSpPr/>
          <p:nvPr/>
        </p:nvSpPr>
        <p:spPr>
          <a:xfrm>
            <a:off x="6949440" y="3008376"/>
            <a:ext cx="1828800" cy="274320"/>
          </a:xfrm>
          <a:prstGeom prst="rect">
            <a:avLst/>
          </a:prstGeom>
          <a:noFill/>
        </p:spPr>
        <p:txBody>
          <a:bodyPr wrap="square" lIns="0" tIns="0" rIns="0" bIns="0" rtlCol="0" anchor="ctr"/>
          <a:lstStyle/>
          <a:p>
            <a:pPr marL="0" indent="0">
              <a:buNone/>
            </a:pPr>
            <a:r>
              <a:rPr lang="en-US" sz="1200" b="1" dirty="0">
                <a:solidFill>
                  <a:srgbClr val="9B59B6"/>
                </a:solidFill>
                <a:latin typeface="Calibri" panose="020F0502020204030204" pitchFamily="34" charset="0"/>
                <a:ea typeface="Calibri" panose="020F0502020204030204" pitchFamily="34" charset="-122"/>
                <a:cs typeface="Calibri" panose="020F0502020204030204" pitchFamily="34" charset="-120"/>
              </a:rPr>
              <a:t>Régimen</a:t>
            </a:r>
            <a:endParaRPr lang="en-US" sz="1200" dirty="0"/>
          </a:p>
        </p:txBody>
      </p:sp>
      <p:sp>
        <p:nvSpPr>
          <p:cNvPr id="14" name="Text 11"/>
          <p:cNvSpPr/>
          <p:nvPr/>
        </p:nvSpPr>
        <p:spPr>
          <a:xfrm>
            <a:off x="6949440" y="3310128"/>
            <a:ext cx="1828800" cy="320040"/>
          </a:xfrm>
          <a:prstGeom prst="rect">
            <a:avLst/>
          </a:prstGeom>
          <a:noFill/>
        </p:spPr>
        <p:txBody>
          <a:bodyPr wrap="square" lIns="0" tIns="0" rIns="0" bIns="0"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800" dirty="0"/>
          </a:p>
        </p:txBody>
      </p:sp>
      <p:sp>
        <p:nvSpPr>
          <p:cNvPr id="15" name="Shape 12"/>
          <p:cNvSpPr/>
          <p:nvPr/>
        </p:nvSpPr>
        <p:spPr>
          <a:xfrm>
            <a:off x="6812280" y="3922776"/>
            <a:ext cx="2103120" cy="868680"/>
          </a:xfrm>
          <a:prstGeom prst="rect">
            <a:avLst/>
          </a:prstGeom>
          <a:solidFill>
            <a:srgbClr val="131D2E"/>
          </a:solidFill>
          <a:ln w="12700">
            <a:solidFill>
              <a:srgbClr val="94A3B8"/>
            </a:solidFill>
            <a:prstDash val="solid"/>
          </a:ln>
          <a:effectLst>
            <a:outerShdw blurRad="76200" dist="38100" dir="8100000" algn="bl" rotWithShape="0">
              <a:srgbClr val="000000">
                <a:alpha val="30000"/>
              </a:srgbClr>
            </a:outerShdw>
          </a:effectLst>
        </p:spPr>
      </p:sp>
      <p:sp>
        <p:nvSpPr>
          <p:cNvPr id="16" name="Text 13"/>
          <p:cNvSpPr/>
          <p:nvPr/>
        </p:nvSpPr>
        <p:spPr>
          <a:xfrm>
            <a:off x="6949440" y="3995928"/>
            <a:ext cx="1828800" cy="274320"/>
          </a:xfrm>
          <a:prstGeom prst="rect">
            <a:avLst/>
          </a:prstGeom>
          <a:noFill/>
        </p:spPr>
        <p:txBody>
          <a:bodyPr wrap="square" lIns="0" tIns="0" rIns="0" bIns="0" rtlCol="0" anchor="ctr"/>
          <a:lstStyle/>
          <a:p>
            <a:pPr marL="0" indent="0">
              <a:buNone/>
            </a:pPr>
            <a:r>
              <a:rPr lang="en-US" sz="1200" b="1" dirty="0">
                <a:solidFill>
                  <a:srgbClr val="94A3B8"/>
                </a:solidFill>
                <a:latin typeface="Calibri" panose="020F0502020204030204" pitchFamily="34" charset="0"/>
                <a:ea typeface="Calibri" panose="020F0502020204030204" pitchFamily="34" charset="-122"/>
                <a:cs typeface="Calibri" panose="020F0502020204030204" pitchFamily="34" charset="-120"/>
              </a:rPr>
              <a:t>Técnicas</a:t>
            </a:r>
            <a:endParaRPr lang="en-US" sz="1200" dirty="0"/>
          </a:p>
        </p:txBody>
      </p:sp>
      <p:sp>
        <p:nvSpPr>
          <p:cNvPr id="17" name="Text 14"/>
          <p:cNvSpPr/>
          <p:nvPr/>
        </p:nvSpPr>
        <p:spPr>
          <a:xfrm>
            <a:off x="6949440" y="4297680"/>
            <a:ext cx="1828800" cy="320040"/>
          </a:xfrm>
          <a:prstGeom prst="rect">
            <a:avLst/>
          </a:prstGeom>
          <a:noFill/>
        </p:spPr>
        <p:txBody>
          <a:bodyPr wrap="square" lIns="0" tIns="0" rIns="0" bIns="0"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~73%</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Text 1"/>
          <p:cNvSpPr/>
          <p:nvPr/>
        </p:nvSpPr>
        <p:spPr>
          <a:xfrm>
            <a:off x="274320" y="164592"/>
            <a:ext cx="8595360" cy="530352"/>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 · El Problema — No Rentable</a:t>
            </a:r>
            <a:endParaRPr lang="en-US" sz="2800" dirty="0"/>
          </a:p>
        </p:txBody>
      </p:sp>
      <p:sp>
        <p:nvSpPr>
          <p:cNvPr id="4" name="Text 2"/>
          <p:cNvSpPr/>
          <p:nvPr/>
        </p:nvSpPr>
        <p:spPr>
          <a:xfrm>
            <a:off x="274320" y="713232"/>
            <a:ext cx="8595360" cy="292608"/>
          </a:xfrm>
          <a:prstGeom prst="rect">
            <a:avLst/>
          </a:prstGeom>
          <a:noFill/>
        </p:spPr>
        <p:txBody>
          <a:bodyPr wrap="square" lIns="0" tIns="0" rIns="0" bIns="0" rtlCol="0" anchor="ctr"/>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Backtest base con EMA13/45 + DXY + threshold 0.50</a:t>
            </a:r>
            <a:endParaRPr lang="en-US" sz="1300" dirty="0"/>
          </a:p>
        </p:txBody>
      </p:sp>
      <p:pic>
        <p:nvPicPr>
          <p:cNvPr id="5" name="Image 0" descr="/home/claude/equity_curves.png"/>
          <p:cNvPicPr>
            <a:picLocks noChangeAspect="1"/>
          </p:cNvPicPr>
          <p:nvPr/>
        </p:nvPicPr>
        <p:blipFill>
          <a:blip r:embed="rId1"/>
          <a:stretch>
            <a:fillRect/>
          </a:stretch>
        </p:blipFill>
        <p:spPr>
          <a:xfrm>
            <a:off x="274320" y="960120"/>
            <a:ext cx="5852160" cy="3977640"/>
          </a:xfrm>
          <a:prstGeom prst="rect">
            <a:avLst/>
          </a:prstGeom>
        </p:spPr>
      </p:pic>
      <p:sp>
        <p:nvSpPr>
          <p:cNvPr id="6" name="Shape 3"/>
          <p:cNvSpPr/>
          <p:nvPr/>
        </p:nvSpPr>
        <p:spPr>
          <a:xfrm>
            <a:off x="6263640" y="891540"/>
            <a:ext cx="2651760" cy="1328420"/>
          </a:xfrm>
          <a:prstGeom prst="rect">
            <a:avLst/>
          </a:prstGeom>
          <a:solidFill>
            <a:srgbClr val="131D2E"/>
          </a:solidFill>
          <a:ln w="12700">
            <a:solidFill>
              <a:srgbClr val="EF4444"/>
            </a:solidFill>
            <a:prstDash val="solid"/>
          </a:ln>
          <a:effectLst>
            <a:outerShdw blurRad="76200" dist="38100" dir="8100000" algn="bl" rotWithShape="0">
              <a:srgbClr val="000000">
                <a:alpha val="30000"/>
              </a:srgbClr>
            </a:outerShdw>
          </a:effectLst>
        </p:spPr>
      </p:sp>
      <p:sp>
        <p:nvSpPr>
          <p:cNvPr id="7" name="Text 4"/>
          <p:cNvSpPr/>
          <p:nvPr/>
        </p:nvSpPr>
        <p:spPr>
          <a:xfrm>
            <a:off x="6400800" y="1051560"/>
            <a:ext cx="2377440" cy="274320"/>
          </a:xfrm>
          <a:prstGeom prst="rect">
            <a:avLst/>
          </a:prstGeom>
          <a:noFill/>
        </p:spPr>
        <p:txBody>
          <a:bodyPr wrap="square" lIns="0" tIns="0" rIns="0" bIns="0" rtlCol="0" anchor="ctr"/>
          <a:lstStyle/>
          <a:p>
            <a:pPr marL="0" indent="0">
              <a:buNone/>
            </a:pPr>
            <a:r>
              <a:rPr lang="en-US" sz="1300" b="1" dirty="0">
                <a:solidFill>
                  <a:srgbClr val="EF4444"/>
                </a:solidFill>
                <a:latin typeface="Calibri" panose="020F0502020204030204" pitchFamily="34" charset="0"/>
                <a:ea typeface="Calibri" panose="020F0502020204030204" pitchFamily="34" charset="-122"/>
                <a:cs typeface="Calibri" panose="020F0502020204030204" pitchFamily="34" charset="-120"/>
              </a:rPr>
              <a:t>Sin filtros</a:t>
            </a:r>
            <a:endParaRPr lang="en-US" sz="1300" dirty="0"/>
          </a:p>
        </p:txBody>
      </p:sp>
      <p:sp>
        <p:nvSpPr>
          <p:cNvPr id="8" name="Text 5"/>
          <p:cNvSpPr/>
          <p:nvPr/>
        </p:nvSpPr>
        <p:spPr>
          <a:xfrm>
            <a:off x="6400800" y="1371600"/>
            <a:ext cx="2377440" cy="685800"/>
          </a:xfrm>
          <a:prstGeom prst="rect">
            <a:avLst/>
          </a:prstGeom>
          <a:noFill/>
        </p:spPr>
        <p:txBody>
          <a:bodyPr wrap="square" rtlCol="0" anchor="t"/>
          <a:lstStyle/>
          <a:p>
            <a:pPr marL="152400" indent="-152400">
              <a:spcAft>
                <a:spcPts val="3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Sharpe H4: −3.88</a:t>
            </a:r>
            <a:endParaRPr lang="en-US" sz="1100" dirty="0"/>
          </a:p>
          <a:p>
            <a:pPr marL="152400" indent="-152400">
              <a:spcAft>
                <a:spcPts val="3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MaxDD: −44.6%</a:t>
            </a:r>
            <a:endParaRPr lang="en-US" sz="1100" dirty="0"/>
          </a:p>
          <a:p>
            <a:pPr marL="152400" indent="-152400">
              <a:spcAft>
                <a:spcPts val="3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Trades: 354</a:t>
            </a:r>
            <a:endParaRPr lang="en-US" sz="1100" dirty="0"/>
          </a:p>
          <a:p>
            <a:pPr marL="152400" indent="-152400">
              <a:spcAft>
                <a:spcPts val="3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Pérdida total: −78.5%</a:t>
            </a:r>
            <a:endParaRPr lang="en-US" sz="1100" dirty="0"/>
          </a:p>
        </p:txBody>
      </p:sp>
      <p:sp>
        <p:nvSpPr>
          <p:cNvPr id="9" name="Shape 6"/>
          <p:cNvSpPr/>
          <p:nvPr/>
        </p:nvSpPr>
        <p:spPr>
          <a:xfrm>
            <a:off x="6263640" y="2286000"/>
            <a:ext cx="2651760" cy="1231265"/>
          </a:xfrm>
          <a:prstGeom prst="rect">
            <a:avLst/>
          </a:prstGeom>
          <a:solidFill>
            <a:srgbClr val="131D2E"/>
          </a:solidFill>
          <a:ln w="12700">
            <a:solidFill>
              <a:srgbClr val="F59E0B"/>
            </a:solidFill>
            <a:prstDash val="solid"/>
          </a:ln>
          <a:effectLst>
            <a:outerShdw blurRad="76200" dist="38100" dir="8100000" algn="bl" rotWithShape="0">
              <a:srgbClr val="000000">
                <a:alpha val="30000"/>
              </a:srgbClr>
            </a:outerShdw>
          </a:effectLst>
        </p:spPr>
      </p:sp>
      <p:sp>
        <p:nvSpPr>
          <p:cNvPr id="10" name="Text 7"/>
          <p:cNvSpPr/>
          <p:nvPr/>
        </p:nvSpPr>
        <p:spPr>
          <a:xfrm>
            <a:off x="6400800" y="2377440"/>
            <a:ext cx="2377440" cy="274320"/>
          </a:xfrm>
          <a:prstGeom prst="rect">
            <a:avLst/>
          </a:prstGeom>
          <a:noFill/>
        </p:spPr>
        <p:txBody>
          <a:bodyPr wrap="square" lIns="0" tIns="0" rIns="0" bIns="0" rtlCol="0" anchor="ctr"/>
          <a:lstStyle/>
          <a:p>
            <a:pPr marL="0" indent="0">
              <a:buNone/>
            </a:pPr>
            <a:r>
              <a:rPr lang="en-US" sz="1300" b="1" dirty="0">
                <a:solidFill>
                  <a:srgbClr val="F59E0B"/>
                </a:solidFill>
                <a:latin typeface="Calibri" panose="020F0502020204030204" pitchFamily="34" charset="0"/>
                <a:ea typeface="Calibri" panose="020F0502020204030204" pitchFamily="34" charset="-122"/>
                <a:cs typeface="Calibri" panose="020F0502020204030204" pitchFamily="34" charset="-120"/>
              </a:rPr>
              <a:t>Con cascada básica</a:t>
            </a:r>
            <a:endParaRPr lang="en-US" sz="1300" dirty="0"/>
          </a:p>
        </p:txBody>
      </p:sp>
      <p:sp>
        <p:nvSpPr>
          <p:cNvPr id="11" name="Text 8"/>
          <p:cNvSpPr/>
          <p:nvPr/>
        </p:nvSpPr>
        <p:spPr>
          <a:xfrm>
            <a:off x="6400800" y="2697480"/>
            <a:ext cx="2377440" cy="685800"/>
          </a:xfrm>
          <a:prstGeom prst="rect">
            <a:avLst/>
          </a:prstGeom>
          <a:noFill/>
        </p:spPr>
        <p:txBody>
          <a:bodyPr wrap="square" rtlCol="0" anchor="t"/>
          <a:lstStyle/>
          <a:p>
            <a:pPr marL="152400" indent="-152400">
              <a:spcAft>
                <a:spcPts val="3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Sharpe H4: −2.99</a:t>
            </a:r>
            <a:endParaRPr lang="en-US" sz="1100" dirty="0"/>
          </a:p>
          <a:p>
            <a:pPr marL="152400" indent="-152400">
              <a:spcAft>
                <a:spcPts val="3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Trades reducidos: 160</a:t>
            </a:r>
            <a:endParaRPr lang="en-US" sz="1100" dirty="0"/>
          </a:p>
          <a:p>
            <a:pPr marL="152400" indent="-152400">
              <a:spcAft>
                <a:spcPts val="3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Mejora: +23% Sharpe</a:t>
            </a:r>
            <a:endParaRPr lang="en-US" sz="1100" dirty="0"/>
          </a:p>
          <a:p>
            <a:pPr marL="152400" indent="-152400">
              <a:spcAft>
                <a:spcPts val="3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Sigue siendo negativo ❌</a:t>
            </a:r>
            <a:endParaRPr lang="en-US" sz="1100" dirty="0"/>
          </a:p>
        </p:txBody>
      </p:sp>
      <p:sp>
        <p:nvSpPr>
          <p:cNvPr id="12" name="Shape 9"/>
          <p:cNvSpPr/>
          <p:nvPr/>
        </p:nvSpPr>
        <p:spPr>
          <a:xfrm>
            <a:off x="6263640" y="3611880"/>
            <a:ext cx="2651760" cy="1143000"/>
          </a:xfrm>
          <a:prstGeom prst="rect">
            <a:avLst/>
          </a:prstGeom>
          <a:solidFill>
            <a:srgbClr val="131D2E"/>
          </a:solidFill>
          <a:ln w="12700">
            <a:solidFill>
              <a:srgbClr val="1E3A5A"/>
            </a:solidFill>
            <a:prstDash val="solid"/>
          </a:ln>
          <a:effectLst>
            <a:outerShdw blurRad="76200" dist="38100" dir="8100000" algn="bl" rotWithShape="0">
              <a:srgbClr val="000000">
                <a:alpha val="30000"/>
              </a:srgbClr>
            </a:outerShdw>
          </a:effectLst>
        </p:spPr>
      </p:sp>
      <p:sp>
        <p:nvSpPr>
          <p:cNvPr id="13" name="Text 10"/>
          <p:cNvSpPr/>
          <p:nvPr/>
        </p:nvSpPr>
        <p:spPr>
          <a:xfrm>
            <a:off x="6400800" y="3703320"/>
            <a:ext cx="2377440" cy="27432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Conclusión parcial</a:t>
            </a:r>
            <a:endParaRPr lang="en-US" sz="1200" dirty="0"/>
          </a:p>
        </p:txBody>
      </p:sp>
      <p:sp>
        <p:nvSpPr>
          <p:cNvPr id="14" name="Text 11"/>
          <p:cNvSpPr/>
          <p:nvPr/>
        </p:nvSpPr>
        <p:spPr>
          <a:xfrm>
            <a:off x="6400800" y="4023360"/>
            <a:ext cx="2377440" cy="59436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Filtrar ayuda pero no es suficiente — necesitamos edge real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0" y="0"/>
            <a:ext cx="9144000" cy="5143500"/>
          </a:xfrm>
          <a:prstGeom prst="rect">
            <a:avLst/>
          </a:prstGeom>
          <a:solidFill>
            <a:srgbClr val="080E18"/>
          </a:solidFill>
          <a:ln w="12700">
            <a:solidFill>
              <a:srgbClr val="080E18"/>
            </a:solidFill>
            <a:prstDash val="solid"/>
          </a:ln>
        </p:spPr>
      </p:sp>
      <p:sp>
        <p:nvSpPr>
          <p:cNvPr id="4" name="Shape 2"/>
          <p:cNvSpPr/>
          <p:nvPr/>
        </p:nvSpPr>
        <p:spPr>
          <a:xfrm>
            <a:off x="0" y="0"/>
            <a:ext cx="50292" cy="5143500"/>
          </a:xfrm>
          <a:prstGeom prst="rect">
            <a:avLst/>
          </a:prstGeom>
          <a:solidFill>
            <a:srgbClr val="F59E0B"/>
          </a:solidFill>
          <a:ln w="12700">
            <a:solidFill>
              <a:srgbClr val="F59E0B"/>
            </a:solidFill>
            <a:prstDash val="solid"/>
          </a:ln>
        </p:spPr>
      </p:sp>
      <p:sp>
        <p:nvSpPr>
          <p:cNvPr id="5" name="Text 3"/>
          <p:cNvSpPr/>
          <p:nvPr/>
        </p:nvSpPr>
        <p:spPr>
          <a:xfrm>
            <a:off x="274320" y="274320"/>
            <a:ext cx="8595360" cy="365760"/>
          </a:xfrm>
          <a:prstGeom prst="rect">
            <a:avLst/>
          </a:prstGeom>
          <a:noFill/>
        </p:spPr>
        <p:txBody>
          <a:bodyPr wrap="square" lIns="0" tIns="0" rIns="0" bIns="0" rtlCol="0" anchor="ctr"/>
          <a:lstStyle/>
          <a:p>
            <a:pPr marL="0" indent="0">
              <a:buNone/>
            </a:pPr>
            <a:r>
              <a:rPr lang="en-US" sz="1600" b="1" dirty="0">
                <a:solidFill>
                  <a:srgbClr val="F59E0B"/>
                </a:solidFill>
                <a:latin typeface="Calibri" panose="020F0502020204030204" pitchFamily="34" charset="0"/>
                <a:ea typeface="Calibri" panose="020F0502020204030204" pitchFamily="34" charset="-122"/>
                <a:cs typeface="Calibri" panose="020F0502020204030204" pitchFamily="34" charset="-120"/>
              </a:rPr>
              <a:t>07 · Insight Clave</a:t>
            </a:r>
            <a:endParaRPr lang="en-US" sz="1600" dirty="0"/>
          </a:p>
        </p:txBody>
      </p:sp>
      <p:sp>
        <p:nvSpPr>
          <p:cNvPr id="6" name="Shape 4"/>
          <p:cNvSpPr/>
          <p:nvPr/>
        </p:nvSpPr>
        <p:spPr>
          <a:xfrm>
            <a:off x="457200" y="1005840"/>
            <a:ext cx="8229600" cy="2286000"/>
          </a:xfrm>
          <a:prstGeom prst="rect">
            <a:avLst/>
          </a:prstGeom>
          <a:solidFill>
            <a:srgbClr val="131D2E"/>
          </a:solidFill>
          <a:ln w="25400">
            <a:solidFill>
              <a:srgbClr val="F59E0B"/>
            </a:solidFill>
            <a:prstDash val="solid"/>
          </a:ln>
          <a:effectLst>
            <a:outerShdw blurRad="76200" dist="38100" dir="8100000" algn="bl" rotWithShape="0">
              <a:srgbClr val="000000">
                <a:alpha val="30000"/>
              </a:srgbClr>
            </a:outerShdw>
          </a:effectLst>
        </p:spPr>
      </p:sp>
      <p:sp>
        <p:nvSpPr>
          <p:cNvPr id="7" name="Text 5"/>
          <p:cNvSpPr/>
          <p:nvPr/>
        </p:nvSpPr>
        <p:spPr>
          <a:xfrm>
            <a:off x="640080" y="1097280"/>
            <a:ext cx="7863840" cy="2103120"/>
          </a:xfrm>
          <a:prstGeom prst="rect">
            <a:avLst/>
          </a:prstGeom>
          <a:noFill/>
        </p:spPr>
        <p:txBody>
          <a:bodyPr wrap="square" lIns="0" tIns="0" rIns="0" bIns="0" rtlCol="0" anchor="ctr"/>
          <a:lstStyle/>
          <a:p>
            <a:pPr marL="0" indent="0" algn="ctr">
              <a:buNone/>
            </a:pPr>
            <a:r>
              <a:rPr lang="en-US" sz="2600" b="1" i="1" dirty="0">
                <a:solidFill>
                  <a:srgbClr val="F59E0B"/>
                </a:solidFill>
                <a:latin typeface="Calibri" panose="020F0502020204030204" pitchFamily="34" charset="0"/>
                <a:ea typeface="Calibri" panose="020F0502020204030204" pitchFamily="34" charset="-122"/>
                <a:cs typeface="Calibri" panose="020F0502020204030204" pitchFamily="34" charset="-120"/>
              </a:rPr>
              <a:t>"El modelo predice dirección.</a:t>
            </a:r>
            <a:endParaRPr lang="en-US" sz="2600" dirty="0"/>
          </a:p>
          <a:p>
            <a:pPr marL="0" indent="0" algn="ctr">
              <a:buNone/>
            </a:pPr>
            <a:r>
              <a:rPr lang="en-US" sz="2600" b="1" i="1" dirty="0">
                <a:solidFill>
                  <a:srgbClr val="F59E0B"/>
                </a:solidFill>
                <a:latin typeface="Calibri" panose="020F0502020204030204" pitchFamily="34" charset="0"/>
                <a:ea typeface="Calibri" panose="020F0502020204030204" pitchFamily="34" charset="-122"/>
                <a:cs typeface="Calibri" panose="020F0502020204030204" pitchFamily="34" charset="-120"/>
              </a:rPr>
              <a:t>Pero el trading requiere edge económico."</a:t>
            </a:r>
            <a:endParaRPr lang="en-US" sz="2600" dirty="0"/>
          </a:p>
        </p:txBody>
      </p:sp>
      <p:sp>
        <p:nvSpPr>
          <p:cNvPr id="8" name="Text 6"/>
          <p:cNvSpPr/>
          <p:nvPr/>
        </p:nvSpPr>
        <p:spPr>
          <a:xfrm>
            <a:off x="365760" y="3474720"/>
            <a:ext cx="457200" cy="365760"/>
          </a:xfrm>
          <a:prstGeom prst="rect">
            <a:avLst/>
          </a:prstGeom>
          <a:noFill/>
        </p:spPr>
        <p:txBody>
          <a:bodyPr wrap="square" lIns="0" tIns="0" rIns="0" bIns="0" rtlCol="0" anchor="ctr"/>
          <a:lstStyle/>
          <a:p>
            <a:pPr marL="0" indent="0">
              <a:buNone/>
            </a:pPr>
            <a:r>
              <a:rPr lang="en-US" sz="18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9" name="Text 7"/>
          <p:cNvSpPr/>
          <p:nvPr/>
        </p:nvSpPr>
        <p:spPr>
          <a:xfrm>
            <a:off x="914400" y="3511296"/>
            <a:ext cx="7863840" cy="320040"/>
          </a:xfrm>
          <a:prstGeom prst="rect">
            <a:avLst/>
          </a:prstGeom>
          <a:noFill/>
        </p:spPr>
        <p:txBody>
          <a:bodyPr wrap="square" lIns="0" tIns="0" rIns="0" bIns="0"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ROC-AUC 0.53 no es suficiente para cubrir costes operativos</a:t>
            </a:r>
            <a:endParaRPr lang="en-US" sz="1300" dirty="0"/>
          </a:p>
        </p:txBody>
      </p:sp>
      <p:sp>
        <p:nvSpPr>
          <p:cNvPr id="10" name="Text 8"/>
          <p:cNvSpPr/>
          <p:nvPr/>
        </p:nvSpPr>
        <p:spPr>
          <a:xfrm>
            <a:off x="365760" y="3950208"/>
            <a:ext cx="457200" cy="365760"/>
          </a:xfrm>
          <a:prstGeom prst="rect">
            <a:avLst/>
          </a:prstGeom>
          <a:noFill/>
        </p:spPr>
        <p:txBody>
          <a:bodyPr wrap="square" lIns="0" tIns="0" rIns="0" bIns="0" rtlCol="0" anchor="ctr"/>
          <a:lstStyle/>
          <a:p>
            <a:pPr marL="0" indent="0">
              <a:buNone/>
            </a:pPr>
            <a:r>
              <a:rPr lang="en-US" sz="18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1" name="Text 9"/>
          <p:cNvSpPr/>
          <p:nvPr/>
        </p:nvSpPr>
        <p:spPr>
          <a:xfrm>
            <a:off x="914400" y="3986784"/>
            <a:ext cx="7863840" cy="320040"/>
          </a:xfrm>
          <a:prstGeom prst="rect">
            <a:avLst/>
          </a:prstGeom>
          <a:noFill/>
        </p:spPr>
        <p:txBody>
          <a:bodyPr wrap="square" lIns="0" tIns="0" rIns="0" bIns="0"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800 trades × 0.13% coste = 104% de erosión acumulada al año</a:t>
            </a:r>
            <a:endParaRPr lang="en-US" sz="1300" dirty="0"/>
          </a:p>
        </p:txBody>
      </p:sp>
      <p:sp>
        <p:nvSpPr>
          <p:cNvPr id="12" name="Text 10"/>
          <p:cNvSpPr/>
          <p:nvPr/>
        </p:nvSpPr>
        <p:spPr>
          <a:xfrm>
            <a:off x="365760" y="4425696"/>
            <a:ext cx="457200" cy="365760"/>
          </a:xfrm>
          <a:prstGeom prst="rect">
            <a:avLst/>
          </a:prstGeom>
          <a:noFill/>
        </p:spPr>
        <p:txBody>
          <a:bodyPr wrap="square" lIns="0" tIns="0" rIns="0" bIns="0" rtlCol="0" anchor="ctr"/>
          <a:lstStyle/>
          <a:p>
            <a:pPr marL="0" indent="0">
              <a:buNone/>
            </a:pPr>
            <a:r>
              <a:rPr lang="en-US" sz="18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3" name="Text 11"/>
          <p:cNvSpPr/>
          <p:nvPr/>
        </p:nvSpPr>
        <p:spPr>
          <a:xfrm>
            <a:off x="914400" y="4462272"/>
            <a:ext cx="7863840" cy="320040"/>
          </a:xfrm>
          <a:prstGeom prst="rect">
            <a:avLst/>
          </a:prstGeom>
          <a:noFill/>
        </p:spPr>
        <p:txBody>
          <a:bodyPr wrap="square" lIns="0" tIns="0" rIns="0" bIns="0"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Solución: operar SOLO cuando las condiciones tienen ventaja estadística real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Text 1"/>
          <p:cNvSpPr/>
          <p:nvPr/>
        </p:nvSpPr>
        <p:spPr>
          <a:xfrm>
            <a:off x="274320" y="164592"/>
            <a:ext cx="8595360" cy="530352"/>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08 · Edge System — 6 Filtros en Cascada</a:t>
            </a:r>
            <a:endParaRPr lang="en-US" sz="2800" dirty="0"/>
          </a:p>
        </p:txBody>
      </p:sp>
      <p:sp>
        <p:nvSpPr>
          <p:cNvPr id="4" name="Text 2"/>
          <p:cNvSpPr/>
          <p:nvPr/>
        </p:nvSpPr>
        <p:spPr>
          <a:xfrm>
            <a:off x="274320" y="713232"/>
            <a:ext cx="8595360" cy="292608"/>
          </a:xfrm>
          <a:prstGeom prst="rect">
            <a:avLst/>
          </a:prstGeom>
          <a:noFill/>
        </p:spPr>
        <p:txBody>
          <a:bodyPr wrap="square" lIns="0" tIns="0" rIns="0" bIns="0" rtlCol="0" anchor="ctr"/>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Cada filtro elimina una categoría específica de malas operaciones</a:t>
            </a:r>
            <a:endParaRPr lang="en-US" sz="1300" dirty="0"/>
          </a:p>
        </p:txBody>
      </p:sp>
      <p:pic>
        <p:nvPicPr>
          <p:cNvPr id="5" name="Image 0" descr="/home/claude/edge_filters.png"/>
          <p:cNvPicPr>
            <a:picLocks noChangeAspect="1"/>
          </p:cNvPicPr>
          <p:nvPr/>
        </p:nvPicPr>
        <p:blipFill>
          <a:blip r:embed="rId1"/>
          <a:stretch>
            <a:fillRect/>
          </a:stretch>
        </p:blipFill>
        <p:spPr>
          <a:xfrm>
            <a:off x="4526280" y="960120"/>
            <a:ext cx="4389120" cy="3977640"/>
          </a:xfrm>
          <a:prstGeom prst="rect">
            <a:avLst/>
          </a:prstGeom>
        </p:spPr>
      </p:pic>
      <p:sp>
        <p:nvSpPr>
          <p:cNvPr id="6" name="Shape 3"/>
          <p:cNvSpPr/>
          <p:nvPr/>
        </p:nvSpPr>
        <p:spPr>
          <a:xfrm>
            <a:off x="274320" y="960120"/>
            <a:ext cx="347472" cy="502920"/>
          </a:xfrm>
          <a:prstGeom prst="rect">
            <a:avLst/>
          </a:prstGeom>
          <a:solidFill>
            <a:srgbClr val="F59E0B"/>
          </a:solidFill>
          <a:ln w="12700">
            <a:solidFill>
              <a:srgbClr val="F59E0B"/>
            </a:solidFill>
            <a:prstDash val="solid"/>
          </a:ln>
        </p:spPr>
      </p:sp>
      <p:sp>
        <p:nvSpPr>
          <p:cNvPr id="7" name="Text 4"/>
          <p:cNvSpPr/>
          <p:nvPr/>
        </p:nvSpPr>
        <p:spPr>
          <a:xfrm>
            <a:off x="274320" y="960120"/>
            <a:ext cx="347472" cy="502920"/>
          </a:xfrm>
          <a:prstGeom prst="rect">
            <a:avLst/>
          </a:prstGeom>
          <a:noFill/>
        </p:spPr>
        <p:txBody>
          <a:bodyPr wrap="square" lIns="0" tIns="0" rIns="0" bIns="0" rtlCol="0" anchor="ctr"/>
          <a:lstStyle/>
          <a:p>
            <a:pPr marL="0" indent="0" algn="ctr">
              <a:buNone/>
            </a:pPr>
            <a:r>
              <a:rPr lang="en-US" sz="1100" b="1" dirty="0">
                <a:solidFill>
                  <a:srgbClr val="0D1117"/>
                </a:solidFill>
                <a:latin typeface="Calibri" panose="020F0502020204030204" pitchFamily="34" charset="0"/>
                <a:ea typeface="Calibri" panose="020F0502020204030204" pitchFamily="34" charset="-122"/>
                <a:cs typeface="Calibri" panose="020F0502020204030204" pitchFamily="34" charset="-120"/>
              </a:rPr>
              <a:t>F1</a:t>
            </a:r>
            <a:endParaRPr lang="en-US" sz="1100" dirty="0"/>
          </a:p>
        </p:txBody>
      </p:sp>
      <p:sp>
        <p:nvSpPr>
          <p:cNvPr id="8" name="Text 5"/>
          <p:cNvSpPr/>
          <p:nvPr/>
        </p:nvSpPr>
        <p:spPr>
          <a:xfrm>
            <a:off x="731520" y="987552"/>
            <a:ext cx="3566160" cy="237744"/>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ATR &gt; pct60</a:t>
            </a:r>
            <a:endParaRPr lang="en-US" sz="1200" dirty="0"/>
          </a:p>
        </p:txBody>
      </p:sp>
      <p:sp>
        <p:nvSpPr>
          <p:cNvPr id="9" name="Text 6"/>
          <p:cNvSpPr/>
          <p:nvPr/>
        </p:nvSpPr>
        <p:spPr>
          <a:xfrm>
            <a:off x="731520" y="1216152"/>
            <a:ext cx="3566160" cy="201168"/>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Solo opera con movimiento real</a:t>
            </a:r>
            <a:endParaRPr lang="en-US" sz="1000" dirty="0"/>
          </a:p>
        </p:txBody>
      </p:sp>
      <p:sp>
        <p:nvSpPr>
          <p:cNvPr id="10" name="Shape 7"/>
          <p:cNvSpPr/>
          <p:nvPr/>
        </p:nvSpPr>
        <p:spPr>
          <a:xfrm>
            <a:off x="274320" y="1609344"/>
            <a:ext cx="347472" cy="502920"/>
          </a:xfrm>
          <a:prstGeom prst="rect">
            <a:avLst/>
          </a:prstGeom>
          <a:solidFill>
            <a:srgbClr val="0EA5E9"/>
          </a:solidFill>
          <a:ln w="12700">
            <a:solidFill>
              <a:srgbClr val="0EA5E9"/>
            </a:solidFill>
            <a:prstDash val="solid"/>
          </a:ln>
        </p:spPr>
      </p:sp>
      <p:sp>
        <p:nvSpPr>
          <p:cNvPr id="11" name="Text 8"/>
          <p:cNvSpPr/>
          <p:nvPr/>
        </p:nvSpPr>
        <p:spPr>
          <a:xfrm>
            <a:off x="274320" y="1609344"/>
            <a:ext cx="347472" cy="502920"/>
          </a:xfrm>
          <a:prstGeom prst="rect">
            <a:avLst/>
          </a:prstGeom>
          <a:noFill/>
        </p:spPr>
        <p:txBody>
          <a:bodyPr wrap="square" lIns="0" tIns="0" rIns="0" bIns="0" rtlCol="0" anchor="ctr"/>
          <a:lstStyle/>
          <a:p>
            <a:pPr marL="0" indent="0" algn="ctr">
              <a:buNone/>
            </a:pPr>
            <a:r>
              <a:rPr lang="en-US" sz="1100" b="1" dirty="0">
                <a:solidFill>
                  <a:srgbClr val="0D1117"/>
                </a:solidFill>
                <a:latin typeface="Calibri" panose="020F0502020204030204" pitchFamily="34" charset="0"/>
                <a:ea typeface="Calibri" panose="020F0502020204030204" pitchFamily="34" charset="-122"/>
                <a:cs typeface="Calibri" panose="020F0502020204030204" pitchFamily="34" charset="-120"/>
              </a:rPr>
              <a:t>F2</a:t>
            </a:r>
            <a:endParaRPr lang="en-US" sz="1100" dirty="0"/>
          </a:p>
        </p:txBody>
      </p:sp>
      <p:sp>
        <p:nvSpPr>
          <p:cNvPr id="12" name="Text 9"/>
          <p:cNvSpPr/>
          <p:nvPr/>
        </p:nvSpPr>
        <p:spPr>
          <a:xfrm>
            <a:off x="731520" y="1636776"/>
            <a:ext cx="3566160" cy="237744"/>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EMA Adaptativa</a:t>
            </a:r>
            <a:endParaRPr lang="en-US" sz="1200" dirty="0"/>
          </a:p>
        </p:txBody>
      </p:sp>
      <p:sp>
        <p:nvSpPr>
          <p:cNvPr id="13" name="Text 10"/>
          <p:cNvSpPr/>
          <p:nvPr/>
        </p:nvSpPr>
        <p:spPr>
          <a:xfrm>
            <a:off x="731520" y="1865376"/>
            <a:ext cx="3566160" cy="201168"/>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13/45 alta vol · 20/50 baja vol</a:t>
            </a:r>
            <a:endParaRPr lang="en-US" sz="1000" dirty="0"/>
          </a:p>
        </p:txBody>
      </p:sp>
      <p:sp>
        <p:nvSpPr>
          <p:cNvPr id="14" name="Shape 11"/>
          <p:cNvSpPr/>
          <p:nvPr/>
        </p:nvSpPr>
        <p:spPr>
          <a:xfrm>
            <a:off x="274320" y="2258568"/>
            <a:ext cx="347472" cy="502920"/>
          </a:xfrm>
          <a:prstGeom prst="rect">
            <a:avLst/>
          </a:prstGeom>
          <a:solidFill>
            <a:srgbClr val="10B981"/>
          </a:solidFill>
          <a:ln w="12700">
            <a:solidFill>
              <a:srgbClr val="10B981"/>
            </a:solidFill>
            <a:prstDash val="solid"/>
          </a:ln>
        </p:spPr>
      </p:sp>
      <p:sp>
        <p:nvSpPr>
          <p:cNvPr id="15" name="Text 12"/>
          <p:cNvSpPr/>
          <p:nvPr/>
        </p:nvSpPr>
        <p:spPr>
          <a:xfrm>
            <a:off x="274320" y="2258568"/>
            <a:ext cx="347472" cy="502920"/>
          </a:xfrm>
          <a:prstGeom prst="rect">
            <a:avLst/>
          </a:prstGeom>
          <a:noFill/>
        </p:spPr>
        <p:txBody>
          <a:bodyPr wrap="square" lIns="0" tIns="0" rIns="0" bIns="0" rtlCol="0" anchor="ctr"/>
          <a:lstStyle/>
          <a:p>
            <a:pPr marL="0" indent="0" algn="ctr">
              <a:buNone/>
            </a:pPr>
            <a:r>
              <a:rPr lang="en-US" sz="1100" b="1" dirty="0">
                <a:solidFill>
                  <a:srgbClr val="0D1117"/>
                </a:solidFill>
                <a:latin typeface="Calibri" panose="020F0502020204030204" pitchFamily="34" charset="0"/>
                <a:ea typeface="Calibri" panose="020F0502020204030204" pitchFamily="34" charset="-122"/>
                <a:cs typeface="Calibri" panose="020F0502020204030204" pitchFamily="34" charset="-120"/>
              </a:rPr>
              <a:t>F3</a:t>
            </a:r>
            <a:endParaRPr lang="en-US" sz="1100" dirty="0"/>
          </a:p>
        </p:txBody>
      </p:sp>
      <p:sp>
        <p:nvSpPr>
          <p:cNvPr id="16" name="Text 13"/>
          <p:cNvSpPr/>
          <p:nvPr/>
        </p:nvSpPr>
        <p:spPr>
          <a:xfrm>
            <a:off x="731520" y="2286000"/>
            <a:ext cx="3566160" cy="237744"/>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ADX &gt; 20</a:t>
            </a:r>
            <a:endParaRPr lang="en-US" sz="1200" dirty="0"/>
          </a:p>
        </p:txBody>
      </p:sp>
      <p:sp>
        <p:nvSpPr>
          <p:cNvPr id="17" name="Text 14"/>
          <p:cNvSpPr/>
          <p:nvPr/>
        </p:nvSpPr>
        <p:spPr>
          <a:xfrm>
            <a:off x="731520" y="2514600"/>
            <a:ext cx="3566160" cy="201168"/>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Evita consolidación / lateral</a:t>
            </a:r>
            <a:endParaRPr lang="en-US" sz="1000" dirty="0"/>
          </a:p>
        </p:txBody>
      </p:sp>
      <p:sp>
        <p:nvSpPr>
          <p:cNvPr id="18" name="Shape 15"/>
          <p:cNvSpPr/>
          <p:nvPr/>
        </p:nvSpPr>
        <p:spPr>
          <a:xfrm>
            <a:off x="274320" y="2907792"/>
            <a:ext cx="347472" cy="502920"/>
          </a:xfrm>
          <a:prstGeom prst="rect">
            <a:avLst/>
          </a:prstGeom>
          <a:solidFill>
            <a:srgbClr val="0EA5E9"/>
          </a:solidFill>
          <a:ln w="12700">
            <a:solidFill>
              <a:srgbClr val="0EA5E9"/>
            </a:solidFill>
            <a:prstDash val="solid"/>
          </a:ln>
        </p:spPr>
      </p:sp>
      <p:sp>
        <p:nvSpPr>
          <p:cNvPr id="19" name="Text 16"/>
          <p:cNvSpPr/>
          <p:nvPr/>
        </p:nvSpPr>
        <p:spPr>
          <a:xfrm>
            <a:off x="274320" y="2907792"/>
            <a:ext cx="347472" cy="502920"/>
          </a:xfrm>
          <a:prstGeom prst="rect">
            <a:avLst/>
          </a:prstGeom>
          <a:noFill/>
        </p:spPr>
        <p:txBody>
          <a:bodyPr wrap="square" lIns="0" tIns="0" rIns="0" bIns="0" rtlCol="0" anchor="ctr"/>
          <a:lstStyle/>
          <a:p>
            <a:pPr marL="0" indent="0" algn="ctr">
              <a:buNone/>
            </a:pPr>
            <a:r>
              <a:rPr lang="en-US" sz="1100" b="1" dirty="0">
                <a:solidFill>
                  <a:srgbClr val="0D1117"/>
                </a:solidFill>
                <a:latin typeface="Calibri" panose="020F0502020204030204" pitchFamily="34" charset="0"/>
                <a:ea typeface="Calibri" panose="020F0502020204030204" pitchFamily="34" charset="-122"/>
                <a:cs typeface="Calibri" panose="020F0502020204030204" pitchFamily="34" charset="-120"/>
              </a:rPr>
              <a:t>F4</a:t>
            </a:r>
            <a:endParaRPr lang="en-US" sz="1100" dirty="0"/>
          </a:p>
        </p:txBody>
      </p:sp>
      <p:sp>
        <p:nvSpPr>
          <p:cNvPr id="20" name="Text 17"/>
          <p:cNvSpPr/>
          <p:nvPr/>
        </p:nvSpPr>
        <p:spPr>
          <a:xfrm>
            <a:off x="731520" y="2935224"/>
            <a:ext cx="3566160" cy="237744"/>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DXY coherente</a:t>
            </a:r>
            <a:endParaRPr lang="en-US" sz="1200" dirty="0"/>
          </a:p>
        </p:txBody>
      </p:sp>
      <p:sp>
        <p:nvSpPr>
          <p:cNvPr id="21" name="Text 18"/>
          <p:cNvSpPr/>
          <p:nvPr/>
        </p:nvSpPr>
        <p:spPr>
          <a:xfrm>
            <a:off x="731520" y="3163824"/>
            <a:ext cx="3566160" cy="201168"/>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ret5p &lt; 0 (BUY) · &gt; 0 (SELL)</a:t>
            </a:r>
            <a:endParaRPr lang="en-US" sz="1000" dirty="0"/>
          </a:p>
        </p:txBody>
      </p:sp>
      <p:sp>
        <p:nvSpPr>
          <p:cNvPr id="22" name="Shape 19"/>
          <p:cNvSpPr/>
          <p:nvPr/>
        </p:nvSpPr>
        <p:spPr>
          <a:xfrm>
            <a:off x="274320" y="3557016"/>
            <a:ext cx="347472" cy="502920"/>
          </a:xfrm>
          <a:prstGeom prst="rect">
            <a:avLst/>
          </a:prstGeom>
          <a:solidFill>
            <a:srgbClr val="F59E0B"/>
          </a:solidFill>
          <a:ln w="12700">
            <a:solidFill>
              <a:srgbClr val="F59E0B"/>
            </a:solidFill>
            <a:prstDash val="solid"/>
          </a:ln>
        </p:spPr>
      </p:sp>
      <p:sp>
        <p:nvSpPr>
          <p:cNvPr id="23" name="Text 20"/>
          <p:cNvSpPr/>
          <p:nvPr/>
        </p:nvSpPr>
        <p:spPr>
          <a:xfrm>
            <a:off x="274320" y="3557016"/>
            <a:ext cx="347472" cy="502920"/>
          </a:xfrm>
          <a:prstGeom prst="rect">
            <a:avLst/>
          </a:prstGeom>
          <a:noFill/>
        </p:spPr>
        <p:txBody>
          <a:bodyPr wrap="square" lIns="0" tIns="0" rIns="0" bIns="0" rtlCol="0" anchor="ctr"/>
          <a:lstStyle/>
          <a:p>
            <a:pPr marL="0" indent="0" algn="ctr">
              <a:buNone/>
            </a:pPr>
            <a:r>
              <a:rPr lang="en-US" sz="1100" b="1" dirty="0">
                <a:solidFill>
                  <a:srgbClr val="0D1117"/>
                </a:solidFill>
                <a:latin typeface="Calibri" panose="020F0502020204030204" pitchFamily="34" charset="0"/>
                <a:ea typeface="Calibri" panose="020F0502020204030204" pitchFamily="34" charset="-122"/>
                <a:cs typeface="Calibri" panose="020F0502020204030204" pitchFamily="34" charset="-120"/>
              </a:rPr>
              <a:t>F5</a:t>
            </a:r>
            <a:endParaRPr lang="en-US" sz="1100" dirty="0"/>
          </a:p>
        </p:txBody>
      </p:sp>
      <p:sp>
        <p:nvSpPr>
          <p:cNvPr id="24" name="Text 21"/>
          <p:cNvSpPr/>
          <p:nvPr/>
        </p:nvSpPr>
        <p:spPr>
          <a:xfrm>
            <a:off x="731520" y="3584448"/>
            <a:ext cx="3566160" cy="237744"/>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Threshold × Sharpe</a:t>
            </a:r>
            <a:endParaRPr lang="en-US" sz="1200" dirty="0"/>
          </a:p>
        </p:txBody>
      </p:sp>
      <p:sp>
        <p:nvSpPr>
          <p:cNvPr id="25" name="Text 22"/>
          <p:cNvSpPr/>
          <p:nvPr/>
        </p:nvSpPr>
        <p:spPr>
          <a:xfrm>
            <a:off x="731520" y="3813048"/>
            <a:ext cx="3566160" cy="201168"/>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LONG &gt;0.58 · SHORT &lt;0.42</a:t>
            </a:r>
            <a:endParaRPr lang="en-US" sz="1000" dirty="0"/>
          </a:p>
        </p:txBody>
      </p:sp>
      <p:sp>
        <p:nvSpPr>
          <p:cNvPr id="26" name="Shape 23"/>
          <p:cNvSpPr/>
          <p:nvPr/>
        </p:nvSpPr>
        <p:spPr>
          <a:xfrm>
            <a:off x="274320" y="4206240"/>
            <a:ext cx="347472" cy="502920"/>
          </a:xfrm>
          <a:prstGeom prst="rect">
            <a:avLst/>
          </a:prstGeom>
          <a:solidFill>
            <a:srgbClr val="10B981"/>
          </a:solidFill>
          <a:ln w="12700">
            <a:solidFill>
              <a:srgbClr val="10B981"/>
            </a:solidFill>
            <a:prstDash val="solid"/>
          </a:ln>
        </p:spPr>
      </p:sp>
      <p:sp>
        <p:nvSpPr>
          <p:cNvPr id="27" name="Text 24"/>
          <p:cNvSpPr/>
          <p:nvPr/>
        </p:nvSpPr>
        <p:spPr>
          <a:xfrm>
            <a:off x="274320" y="4206240"/>
            <a:ext cx="347472" cy="502920"/>
          </a:xfrm>
          <a:prstGeom prst="rect">
            <a:avLst/>
          </a:prstGeom>
          <a:noFill/>
        </p:spPr>
        <p:txBody>
          <a:bodyPr wrap="square" lIns="0" tIns="0" rIns="0" bIns="0" rtlCol="0" anchor="ctr"/>
          <a:lstStyle/>
          <a:p>
            <a:pPr marL="0" indent="0" algn="ctr">
              <a:buNone/>
            </a:pPr>
            <a:r>
              <a:rPr lang="en-US" sz="1100" b="1" dirty="0">
                <a:solidFill>
                  <a:srgbClr val="0D1117"/>
                </a:solidFill>
                <a:latin typeface="Calibri" panose="020F0502020204030204" pitchFamily="34" charset="0"/>
                <a:ea typeface="Calibri" panose="020F0502020204030204" pitchFamily="34" charset="-122"/>
                <a:cs typeface="Calibri" panose="020F0502020204030204" pitchFamily="34" charset="-120"/>
              </a:rPr>
              <a:t>F6</a:t>
            </a:r>
            <a:endParaRPr lang="en-US" sz="1100" dirty="0"/>
          </a:p>
        </p:txBody>
      </p:sp>
      <p:sp>
        <p:nvSpPr>
          <p:cNvPr id="28" name="Text 25"/>
          <p:cNvSpPr/>
          <p:nvPr/>
        </p:nvSpPr>
        <p:spPr>
          <a:xfrm>
            <a:off x="731520" y="4233672"/>
            <a:ext cx="3566160" cy="237744"/>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Régimen tendencia</a:t>
            </a:r>
            <a:endParaRPr lang="en-US" sz="1200" dirty="0"/>
          </a:p>
        </p:txBody>
      </p:sp>
      <p:sp>
        <p:nvSpPr>
          <p:cNvPr id="29" name="Text 26"/>
          <p:cNvSpPr/>
          <p:nvPr/>
        </p:nvSpPr>
        <p:spPr>
          <a:xfrm>
            <a:off x="731520" y="4462272"/>
            <a:ext cx="3566160" cy="201168"/>
          </a:xfrm>
          <a:prstGeom prst="rect">
            <a:avLst/>
          </a:prstGeom>
          <a:noFill/>
        </p:spPr>
        <p:txBody>
          <a:bodyPr wrap="square" lIns="0" tIns="0" rIns="0" bIns="0" rtlCol="0" anchor="ctr"/>
          <a:lstStyle/>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KMeans: solo cluster tendencia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Text 1"/>
          <p:cNvSpPr/>
          <p:nvPr/>
        </p:nvSpPr>
        <p:spPr>
          <a:xfrm>
            <a:off x="274320" y="164592"/>
            <a:ext cx="8595360" cy="530352"/>
          </a:xfrm>
          <a:prstGeom prst="rect">
            <a:avLst/>
          </a:prstGeom>
          <a:noFill/>
        </p:spPr>
        <p:txBody>
          <a:bodyPr wrap="square" lIns="0" tIns="0" rIns="0" bIns="0"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09 · Resultados — Edge System vs Baseline</a:t>
            </a:r>
            <a:endParaRPr lang="en-US" sz="2800" dirty="0"/>
          </a:p>
        </p:txBody>
      </p:sp>
      <p:sp>
        <p:nvSpPr>
          <p:cNvPr id="4" name="Text 2"/>
          <p:cNvSpPr/>
          <p:nvPr/>
        </p:nvSpPr>
        <p:spPr>
          <a:xfrm>
            <a:off x="274320" y="654050"/>
            <a:ext cx="8595360" cy="351790"/>
          </a:xfrm>
          <a:prstGeom prst="rect">
            <a:avLst/>
          </a:prstGeom>
          <a:noFill/>
        </p:spPr>
        <p:txBody>
          <a:bodyPr wrap="square" lIns="0" tIns="0" rIns="0" bIns="0" rtlCol="0" anchor="ctr"/>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Threshold optimizado por Sharpe · 6 filtros activos</a:t>
            </a:r>
            <a:endParaRPr lang="en-US" sz="1300" dirty="0"/>
          </a:p>
        </p:txBody>
      </p:sp>
      <p:pic>
        <p:nvPicPr>
          <p:cNvPr id="5" name="Image 0" descr="/home/claude/edge_equity_curves.png"/>
          <p:cNvPicPr>
            <a:picLocks noChangeAspect="1"/>
          </p:cNvPicPr>
          <p:nvPr/>
        </p:nvPicPr>
        <p:blipFill>
          <a:blip r:embed="rId1"/>
          <a:stretch>
            <a:fillRect/>
          </a:stretch>
        </p:blipFill>
        <p:spPr>
          <a:xfrm>
            <a:off x="274320" y="960120"/>
            <a:ext cx="5486400" cy="3977640"/>
          </a:xfrm>
          <a:prstGeom prst="rect">
            <a:avLst/>
          </a:prstGeom>
        </p:spPr>
      </p:pic>
      <p:sp>
        <p:nvSpPr>
          <p:cNvPr id="6" name="Shape 3"/>
          <p:cNvSpPr/>
          <p:nvPr/>
        </p:nvSpPr>
        <p:spPr>
          <a:xfrm>
            <a:off x="5943600" y="960120"/>
            <a:ext cx="2971800" cy="868680"/>
          </a:xfrm>
          <a:prstGeom prst="rect">
            <a:avLst/>
          </a:prstGeom>
          <a:solidFill>
            <a:srgbClr val="131D2E"/>
          </a:solidFill>
          <a:ln w="12700">
            <a:solidFill>
              <a:srgbClr val="10B981"/>
            </a:solidFill>
            <a:prstDash val="solid"/>
          </a:ln>
          <a:effectLst>
            <a:outerShdw blurRad="76200" dist="38100" dir="8100000" algn="bl" rotWithShape="0">
              <a:srgbClr val="000000">
                <a:alpha val="30000"/>
              </a:srgbClr>
            </a:outerShdw>
          </a:effectLst>
        </p:spPr>
      </p:sp>
      <p:sp>
        <p:nvSpPr>
          <p:cNvPr id="7" name="Text 4"/>
          <p:cNvSpPr/>
          <p:nvPr/>
        </p:nvSpPr>
        <p:spPr>
          <a:xfrm>
            <a:off x="6080760" y="1033272"/>
            <a:ext cx="2651760" cy="228600"/>
          </a:xfrm>
          <a:prstGeom prst="rect">
            <a:avLst/>
          </a:prstGeom>
          <a:noFill/>
        </p:spPr>
        <p:txBody>
          <a:bodyPr wrap="square" lIns="0" tIns="0" rIns="0" bIns="0" rtlCol="0" anchor="ctr"/>
          <a:lstStyle/>
          <a:p>
            <a:pPr marL="0" indent="0">
              <a:buNone/>
            </a:pPr>
            <a:r>
              <a:rPr lang="en-US" sz="1100" dirty="0">
                <a:solidFill>
                  <a:srgbClr val="10B981"/>
                </a:solidFill>
                <a:latin typeface="Calibri" panose="020F0502020204030204" pitchFamily="34" charset="0"/>
                <a:ea typeface="Calibri" panose="020F0502020204030204" pitchFamily="34" charset="-122"/>
                <a:cs typeface="Calibri" panose="020F0502020204030204" pitchFamily="34" charset="-120"/>
              </a:rPr>
              <a:t>Trades reducidos</a:t>
            </a:r>
            <a:endParaRPr lang="en-US" sz="1100" dirty="0"/>
          </a:p>
        </p:txBody>
      </p:sp>
      <p:sp>
        <p:nvSpPr>
          <p:cNvPr id="8" name="Text 5"/>
          <p:cNvSpPr/>
          <p:nvPr/>
        </p:nvSpPr>
        <p:spPr>
          <a:xfrm>
            <a:off x="6080760" y="1280160"/>
            <a:ext cx="2651760" cy="27432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~800/año → ~120/año</a:t>
            </a:r>
            <a:endParaRPr lang="en-US" sz="1300" dirty="0"/>
          </a:p>
        </p:txBody>
      </p:sp>
      <p:sp>
        <p:nvSpPr>
          <p:cNvPr id="9" name="Text 6"/>
          <p:cNvSpPr/>
          <p:nvPr/>
        </p:nvSpPr>
        <p:spPr>
          <a:xfrm>
            <a:off x="6080760" y="1554480"/>
            <a:ext cx="2651760" cy="182880"/>
          </a:xfrm>
          <a:prstGeom prst="rect">
            <a:avLst/>
          </a:prstGeom>
          <a:noFill/>
        </p:spPr>
        <p:txBody>
          <a:bodyPr wrap="square" lIns="0" tIns="0" rIns="0" bIns="0" rtlCol="0" anchor="ctr"/>
          <a:lstStyle/>
          <a:p>
            <a:pPr marL="0" indent="0">
              <a:buNone/>
            </a:pPr>
            <a:r>
              <a:rPr lang="en-US" sz="1100" b="1" dirty="0">
                <a:solidFill>
                  <a:srgbClr val="10B981"/>
                </a:solidFill>
                <a:latin typeface="Calibri" panose="020F0502020204030204" pitchFamily="34" charset="0"/>
                <a:ea typeface="Calibri" panose="020F0502020204030204" pitchFamily="34" charset="-122"/>
                <a:cs typeface="Calibri" panose="020F0502020204030204" pitchFamily="34" charset="-120"/>
              </a:rPr>
              <a:t>−85%</a:t>
            </a:r>
            <a:endParaRPr lang="en-US" sz="1100" dirty="0"/>
          </a:p>
        </p:txBody>
      </p:sp>
      <p:sp>
        <p:nvSpPr>
          <p:cNvPr id="10" name="Shape 7"/>
          <p:cNvSpPr/>
          <p:nvPr/>
        </p:nvSpPr>
        <p:spPr>
          <a:xfrm>
            <a:off x="5943600" y="1947672"/>
            <a:ext cx="2971800" cy="868680"/>
          </a:xfrm>
          <a:prstGeom prst="rect">
            <a:avLst/>
          </a:prstGeom>
          <a:solidFill>
            <a:srgbClr val="131D2E"/>
          </a:solidFill>
          <a:ln w="12700">
            <a:solidFill>
              <a:srgbClr val="F59E0B"/>
            </a:solidFill>
            <a:prstDash val="solid"/>
          </a:ln>
          <a:effectLst>
            <a:outerShdw blurRad="76200" dist="38100" dir="8100000" algn="bl" rotWithShape="0">
              <a:srgbClr val="000000">
                <a:alpha val="30000"/>
              </a:srgbClr>
            </a:outerShdw>
          </a:effectLst>
        </p:spPr>
      </p:sp>
      <p:sp>
        <p:nvSpPr>
          <p:cNvPr id="11" name="Text 8"/>
          <p:cNvSpPr/>
          <p:nvPr/>
        </p:nvSpPr>
        <p:spPr>
          <a:xfrm>
            <a:off x="6080760" y="2020824"/>
            <a:ext cx="2651760" cy="228600"/>
          </a:xfrm>
          <a:prstGeom prst="rect">
            <a:avLst/>
          </a:prstGeom>
          <a:noFill/>
        </p:spPr>
        <p:txBody>
          <a:bodyPr wrap="square" lIns="0" tIns="0" rIns="0" bIns="0" rtlCol="0" anchor="ctr"/>
          <a:lstStyle/>
          <a:p>
            <a:pPr marL="0" indent="0">
              <a:buNone/>
            </a:pPr>
            <a:r>
              <a:rPr lang="en-US" sz="1100" dirty="0">
                <a:solidFill>
                  <a:srgbClr val="F59E0B"/>
                </a:solidFill>
                <a:latin typeface="Calibri" panose="020F0502020204030204" pitchFamily="34" charset="0"/>
                <a:ea typeface="Calibri" panose="020F0502020204030204" pitchFamily="34" charset="-122"/>
                <a:cs typeface="Calibri" panose="020F0502020204030204" pitchFamily="34" charset="-120"/>
              </a:rPr>
              <a:t>Sharpe D1</a:t>
            </a:r>
            <a:endParaRPr lang="en-US" sz="1100" dirty="0"/>
          </a:p>
        </p:txBody>
      </p:sp>
      <p:sp>
        <p:nvSpPr>
          <p:cNvPr id="12" name="Text 9"/>
          <p:cNvSpPr/>
          <p:nvPr/>
        </p:nvSpPr>
        <p:spPr>
          <a:xfrm>
            <a:off x="6080760" y="2267712"/>
            <a:ext cx="2651760" cy="27432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−1.21 → −0.59</a:t>
            </a:r>
            <a:endParaRPr lang="en-US" sz="1300" dirty="0"/>
          </a:p>
        </p:txBody>
      </p:sp>
      <p:sp>
        <p:nvSpPr>
          <p:cNvPr id="13" name="Text 10"/>
          <p:cNvSpPr/>
          <p:nvPr/>
        </p:nvSpPr>
        <p:spPr>
          <a:xfrm>
            <a:off x="6080760" y="2542032"/>
            <a:ext cx="2651760" cy="182880"/>
          </a:xfrm>
          <a:prstGeom prst="rect">
            <a:avLst/>
          </a:prstGeom>
          <a:noFill/>
        </p:spPr>
        <p:txBody>
          <a:bodyPr wrap="square" lIns="0" tIns="0" rIns="0" bIns="0" rtlCol="0" anchor="ctr"/>
          <a:lstStyle/>
          <a:p>
            <a:pPr marL="0" indent="0">
              <a:buNone/>
            </a:pPr>
            <a:r>
              <a:rPr lang="en-US" sz="1100" b="1" dirty="0">
                <a:solidFill>
                  <a:srgbClr val="F59E0B"/>
                </a:solidFill>
                <a:latin typeface="Calibri" panose="020F0502020204030204" pitchFamily="34" charset="0"/>
                <a:ea typeface="Calibri" panose="020F0502020204030204" pitchFamily="34" charset="-122"/>
                <a:cs typeface="Calibri" panose="020F0502020204030204" pitchFamily="34" charset="-120"/>
              </a:rPr>
              <a:t>+51%</a:t>
            </a:r>
            <a:endParaRPr lang="en-US" sz="1100" dirty="0"/>
          </a:p>
        </p:txBody>
      </p:sp>
      <p:sp>
        <p:nvSpPr>
          <p:cNvPr id="14" name="Shape 11"/>
          <p:cNvSpPr/>
          <p:nvPr/>
        </p:nvSpPr>
        <p:spPr>
          <a:xfrm>
            <a:off x="5943600" y="2935224"/>
            <a:ext cx="2971800" cy="868680"/>
          </a:xfrm>
          <a:prstGeom prst="rect">
            <a:avLst/>
          </a:prstGeom>
          <a:solidFill>
            <a:srgbClr val="131D2E"/>
          </a:solidFill>
          <a:ln w="12700">
            <a:solidFill>
              <a:srgbClr val="F59E0B"/>
            </a:solidFill>
            <a:prstDash val="solid"/>
          </a:ln>
          <a:effectLst>
            <a:outerShdw blurRad="76200" dist="38100" dir="8100000" algn="bl" rotWithShape="0">
              <a:srgbClr val="000000">
                <a:alpha val="30000"/>
              </a:srgbClr>
            </a:outerShdw>
          </a:effectLst>
        </p:spPr>
      </p:sp>
      <p:sp>
        <p:nvSpPr>
          <p:cNvPr id="15" name="Text 12"/>
          <p:cNvSpPr/>
          <p:nvPr/>
        </p:nvSpPr>
        <p:spPr>
          <a:xfrm>
            <a:off x="6080760" y="3008376"/>
            <a:ext cx="2651760" cy="228600"/>
          </a:xfrm>
          <a:prstGeom prst="rect">
            <a:avLst/>
          </a:prstGeom>
          <a:noFill/>
        </p:spPr>
        <p:txBody>
          <a:bodyPr wrap="square" lIns="0" tIns="0" rIns="0" bIns="0" rtlCol="0" anchor="ctr"/>
          <a:lstStyle/>
          <a:p>
            <a:pPr marL="0" indent="0">
              <a:buNone/>
            </a:pPr>
            <a:r>
              <a:rPr lang="en-US" sz="1100" dirty="0">
                <a:solidFill>
                  <a:srgbClr val="F59E0B"/>
                </a:solidFill>
                <a:latin typeface="Calibri" panose="020F0502020204030204" pitchFamily="34" charset="0"/>
                <a:ea typeface="Calibri" panose="020F0502020204030204" pitchFamily="34" charset="-122"/>
                <a:cs typeface="Calibri" panose="020F0502020204030204" pitchFamily="34" charset="-120"/>
              </a:rPr>
              <a:t>Sharpe H4</a:t>
            </a:r>
            <a:endParaRPr lang="en-US" sz="1100" dirty="0"/>
          </a:p>
        </p:txBody>
      </p:sp>
      <p:sp>
        <p:nvSpPr>
          <p:cNvPr id="16" name="Text 13"/>
          <p:cNvSpPr/>
          <p:nvPr/>
        </p:nvSpPr>
        <p:spPr>
          <a:xfrm>
            <a:off x="6080760" y="3255264"/>
            <a:ext cx="2651760" cy="27432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−3.66 →   0.00</a:t>
            </a:r>
            <a:endParaRPr lang="en-US" sz="1300" dirty="0"/>
          </a:p>
        </p:txBody>
      </p:sp>
      <p:sp>
        <p:nvSpPr>
          <p:cNvPr id="17" name="Text 14"/>
          <p:cNvSpPr/>
          <p:nvPr/>
        </p:nvSpPr>
        <p:spPr>
          <a:xfrm>
            <a:off x="6080760" y="3529584"/>
            <a:ext cx="2651760" cy="182880"/>
          </a:xfrm>
          <a:prstGeom prst="rect">
            <a:avLst/>
          </a:prstGeom>
          <a:noFill/>
        </p:spPr>
        <p:txBody>
          <a:bodyPr wrap="square" lIns="0" tIns="0" rIns="0" bIns="0" rtlCol="0" anchor="ctr"/>
          <a:lstStyle/>
          <a:p>
            <a:pPr marL="0" indent="0">
              <a:buNone/>
            </a:pPr>
            <a:r>
              <a:rPr lang="en-US" sz="1100" b="1" dirty="0">
                <a:solidFill>
                  <a:srgbClr val="F59E0B"/>
                </a:solidFill>
                <a:latin typeface="Calibri" panose="020F0502020204030204" pitchFamily="34" charset="0"/>
                <a:ea typeface="Calibri" panose="020F0502020204030204" pitchFamily="34" charset="-122"/>
                <a:cs typeface="Calibri" panose="020F0502020204030204" pitchFamily="34" charset="-120"/>
              </a:rPr>
              <a:t>mejora</a:t>
            </a:r>
            <a:endParaRPr lang="en-US" sz="1100" dirty="0"/>
          </a:p>
        </p:txBody>
      </p:sp>
      <p:sp>
        <p:nvSpPr>
          <p:cNvPr id="18" name="Shape 15"/>
          <p:cNvSpPr/>
          <p:nvPr/>
        </p:nvSpPr>
        <p:spPr>
          <a:xfrm>
            <a:off x="5943600" y="3922776"/>
            <a:ext cx="2971800" cy="868680"/>
          </a:xfrm>
          <a:prstGeom prst="rect">
            <a:avLst/>
          </a:prstGeom>
          <a:solidFill>
            <a:srgbClr val="131D2E"/>
          </a:solidFill>
          <a:ln w="12700">
            <a:solidFill>
              <a:srgbClr val="0EA5E9"/>
            </a:solidFill>
            <a:prstDash val="solid"/>
          </a:ln>
          <a:effectLst>
            <a:outerShdw blurRad="76200" dist="38100" dir="8100000" algn="bl" rotWithShape="0">
              <a:srgbClr val="000000">
                <a:alpha val="30000"/>
              </a:srgbClr>
            </a:outerShdw>
          </a:effectLst>
        </p:spPr>
      </p:sp>
      <p:sp>
        <p:nvSpPr>
          <p:cNvPr id="19" name="Text 16"/>
          <p:cNvSpPr/>
          <p:nvPr/>
        </p:nvSpPr>
        <p:spPr>
          <a:xfrm>
            <a:off x="6080760" y="3995928"/>
            <a:ext cx="2651760" cy="228600"/>
          </a:xfrm>
          <a:prstGeom prst="rect">
            <a:avLst/>
          </a:prstGeom>
          <a:noFill/>
        </p:spPr>
        <p:txBody>
          <a:bodyPr wrap="square" lIns="0" tIns="0" rIns="0" bIns="0" rtlCol="0" anchor="ctr"/>
          <a:lstStyle/>
          <a:p>
            <a:pPr marL="0" indent="0">
              <a:buNone/>
            </a:pPr>
            <a:r>
              <a:rPr lang="en-US" sz="1100" dirty="0">
                <a:solidFill>
                  <a:srgbClr val="0EA5E9"/>
                </a:solidFill>
                <a:latin typeface="Calibri" panose="020F0502020204030204" pitchFamily="34" charset="0"/>
                <a:ea typeface="Calibri" panose="020F0502020204030204" pitchFamily="34" charset="-122"/>
                <a:cs typeface="Calibri" panose="020F0502020204030204" pitchFamily="34" charset="-120"/>
              </a:rPr>
              <a:t>WinRate D1</a:t>
            </a:r>
            <a:endParaRPr lang="en-US" sz="1100" dirty="0"/>
          </a:p>
        </p:txBody>
      </p:sp>
      <p:sp>
        <p:nvSpPr>
          <p:cNvPr id="20" name="Text 17"/>
          <p:cNvSpPr/>
          <p:nvPr/>
        </p:nvSpPr>
        <p:spPr>
          <a:xfrm>
            <a:off x="6080760" y="4242816"/>
            <a:ext cx="2651760" cy="27432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~48% → 20%↑</a:t>
            </a:r>
            <a:endParaRPr lang="en-US" sz="1300" dirty="0"/>
          </a:p>
        </p:txBody>
      </p:sp>
      <p:sp>
        <p:nvSpPr>
          <p:cNvPr id="21" name="Text 18"/>
          <p:cNvSpPr/>
          <p:nvPr/>
        </p:nvSpPr>
        <p:spPr>
          <a:xfrm>
            <a:off x="6080760" y="4517136"/>
            <a:ext cx="2651760" cy="182880"/>
          </a:xfrm>
          <a:prstGeom prst="rect">
            <a:avLst/>
          </a:prstGeom>
          <a:noFill/>
        </p:spPr>
        <p:txBody>
          <a:bodyPr wrap="square" lIns="0" tIns="0" rIns="0" bIns="0" rtlCol="0" anchor="ctr"/>
          <a:lstStyle/>
          <a:p>
            <a:pPr marL="0" indent="0">
              <a:buNone/>
            </a:pPr>
            <a:r>
              <a:rPr lang="en-US" sz="1100" b="1" dirty="0">
                <a:solidFill>
                  <a:srgbClr val="0EA5E9"/>
                </a:solidFill>
                <a:latin typeface="Calibri" panose="020F0502020204030204" pitchFamily="34" charset="0"/>
                <a:ea typeface="Calibri" panose="020F0502020204030204" pitchFamily="34" charset="-122"/>
                <a:cs typeface="Calibri" panose="020F0502020204030204" pitchFamily="34" charset="-120"/>
              </a:rPr>
              <a:t>filtros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50292" y="0"/>
            <a:ext cx="9093708" cy="960120"/>
          </a:xfrm>
          <a:prstGeom prst="rect">
            <a:avLst/>
          </a:prstGeom>
          <a:solidFill>
            <a:srgbClr val="0D2137"/>
          </a:solidFill>
          <a:ln w="12700">
            <a:solidFill>
              <a:srgbClr val="0D2137"/>
            </a:solidFill>
            <a:prstDash val="solid"/>
          </a:ln>
        </p:spPr>
      </p:sp>
      <p:sp>
        <p:nvSpPr>
          <p:cNvPr id="4" name="Text 2"/>
          <p:cNvSpPr/>
          <p:nvPr/>
        </p:nvSpPr>
        <p:spPr>
          <a:xfrm>
            <a:off x="274320" y="164592"/>
            <a:ext cx="8595360" cy="530352"/>
          </a:xfrm>
          <a:prstGeom prst="rect">
            <a:avLst/>
          </a:prstGeom>
          <a:noFill/>
        </p:spPr>
        <p:txBody>
          <a:bodyPr wrap="square" lIns="0" tIns="0" rIns="0" bIns="0" rtlCol="0" anchor="ctr"/>
          <a:lstStyle/>
          <a:p>
            <a:pPr marL="0" indent="0">
              <a:buNone/>
            </a:pPr>
            <a:r>
              <a:rPr lang="en-US" sz="2400" b="1" dirty="0">
                <a:solidFill>
                  <a:srgbClr val="0EA5E9"/>
                </a:solidFill>
                <a:latin typeface="Calibri" panose="020F0502020204030204" pitchFamily="34" charset="0"/>
                <a:ea typeface="Calibri" panose="020F0502020204030204" pitchFamily="34" charset="-122"/>
                <a:cs typeface="Calibri" panose="020F0502020204030204" pitchFamily="34" charset="-120"/>
              </a:rPr>
              <a:t>Benchmarking — ¿Por Qué No Superar al Buy &amp; Hold?</a:t>
            </a:r>
            <a:endParaRPr lang="en-US" sz="2400" dirty="0"/>
          </a:p>
        </p:txBody>
      </p:sp>
      <p:sp>
        <p:nvSpPr>
          <p:cNvPr id="5" name="Text 3"/>
          <p:cNvSpPr/>
          <p:nvPr/>
        </p:nvSpPr>
        <p:spPr>
          <a:xfrm>
            <a:off x="274320" y="685800"/>
            <a:ext cx="8595360" cy="27432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El oro sube +145% en el periodo de test · El trading activo no lo supera · y eso es valioso saberlo</a:t>
            </a:r>
            <a:endParaRPr lang="en-US" sz="1200" dirty="0"/>
          </a:p>
        </p:txBody>
      </p:sp>
      <p:pic>
        <p:nvPicPr>
          <p:cNvPr id="6" name="Image 0" descr="/home/claude/edge_equity_curves.png"/>
          <p:cNvPicPr>
            <a:picLocks noChangeAspect="1"/>
          </p:cNvPicPr>
          <p:nvPr/>
        </p:nvPicPr>
        <p:blipFill>
          <a:blip r:embed="rId1"/>
          <a:stretch>
            <a:fillRect/>
          </a:stretch>
        </p:blipFill>
        <p:spPr>
          <a:xfrm>
            <a:off x="274320" y="987552"/>
            <a:ext cx="5486400" cy="3977640"/>
          </a:xfrm>
          <a:prstGeom prst="rect">
            <a:avLst/>
          </a:prstGeom>
        </p:spPr>
      </p:pic>
      <p:sp>
        <p:nvSpPr>
          <p:cNvPr id="7" name="Shape 4"/>
          <p:cNvSpPr/>
          <p:nvPr/>
        </p:nvSpPr>
        <p:spPr>
          <a:xfrm>
            <a:off x="5943600" y="987552"/>
            <a:ext cx="2971800" cy="1874520"/>
          </a:xfrm>
          <a:prstGeom prst="rect">
            <a:avLst/>
          </a:prstGeom>
          <a:solidFill>
            <a:srgbClr val="131D2E"/>
          </a:solidFill>
          <a:ln w="12700">
            <a:solidFill>
              <a:srgbClr val="0EA5E9"/>
            </a:solidFill>
            <a:prstDash val="solid"/>
          </a:ln>
          <a:effectLst>
            <a:outerShdw blurRad="76200" dist="38100" dir="8100000" algn="bl" rotWithShape="0">
              <a:srgbClr val="000000">
                <a:alpha val="28000"/>
              </a:srgbClr>
            </a:outerShdw>
          </a:effectLst>
        </p:spPr>
      </p:sp>
      <p:sp>
        <p:nvSpPr>
          <p:cNvPr id="8" name="Text 5"/>
          <p:cNvSpPr/>
          <p:nvPr/>
        </p:nvSpPr>
        <p:spPr>
          <a:xfrm>
            <a:off x="6080760" y="1078992"/>
            <a:ext cx="2651760" cy="274320"/>
          </a:xfrm>
          <a:prstGeom prst="rect">
            <a:avLst/>
          </a:prstGeom>
          <a:noFill/>
        </p:spPr>
        <p:txBody>
          <a:bodyPr wrap="square" lIns="0" tIns="0" rIns="0" bIns="0" rtlCol="0" anchor="ctr"/>
          <a:lstStyle/>
          <a:p>
            <a:pPr marL="0" indent="0">
              <a:buNone/>
            </a:pPr>
            <a:r>
              <a:rPr lang="en-US" sz="1300" b="1" dirty="0">
                <a:solidFill>
                  <a:srgbClr val="0EA5E9"/>
                </a:solidFill>
                <a:latin typeface="Calibri" panose="020F0502020204030204" pitchFamily="34" charset="0"/>
                <a:ea typeface="Calibri" panose="020F0502020204030204" pitchFamily="34" charset="-122"/>
                <a:cs typeface="Calibri" panose="020F0502020204030204" pitchFamily="34" charset="-120"/>
              </a:rPr>
              <a:t>📈  Buy &amp; Hold</a:t>
            </a:r>
            <a:endParaRPr lang="en-US" sz="1300" dirty="0"/>
          </a:p>
        </p:txBody>
      </p:sp>
      <p:sp>
        <p:nvSpPr>
          <p:cNvPr id="9" name="Text 6"/>
          <p:cNvSpPr/>
          <p:nvPr/>
        </p:nvSpPr>
        <p:spPr>
          <a:xfrm>
            <a:off x="6080760" y="1389888"/>
            <a:ext cx="2651760" cy="219456"/>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+145% en D1 (test)</a:t>
            </a:r>
            <a:endParaRPr lang="en-US" sz="1100" dirty="0"/>
          </a:p>
        </p:txBody>
      </p:sp>
      <p:sp>
        <p:nvSpPr>
          <p:cNvPr id="10" name="Text 7"/>
          <p:cNvSpPr/>
          <p:nvPr/>
        </p:nvSpPr>
        <p:spPr>
          <a:xfrm>
            <a:off x="6080760" y="1618488"/>
            <a:ext cx="2651760" cy="219456"/>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Sin costes operativos</a:t>
            </a:r>
            <a:endParaRPr lang="en-US" sz="1100" dirty="0"/>
          </a:p>
        </p:txBody>
      </p:sp>
      <p:sp>
        <p:nvSpPr>
          <p:cNvPr id="11" name="Text 8"/>
          <p:cNvSpPr/>
          <p:nvPr/>
        </p:nvSpPr>
        <p:spPr>
          <a:xfrm>
            <a:off x="6080760" y="1847088"/>
            <a:ext cx="2651760" cy="219456"/>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Sin riesgo de ejecución</a:t>
            </a:r>
            <a:endParaRPr lang="en-US" sz="1100" dirty="0"/>
          </a:p>
        </p:txBody>
      </p:sp>
      <p:sp>
        <p:nvSpPr>
          <p:cNvPr id="12" name="Text 9"/>
          <p:cNvSpPr/>
          <p:nvPr/>
        </p:nvSpPr>
        <p:spPr>
          <a:xfrm>
            <a:off x="6080760" y="2075688"/>
            <a:ext cx="2651760" cy="219456"/>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Aprovecha tendencia estructural del oro</a:t>
            </a:r>
            <a:endParaRPr lang="en-US" sz="1100" dirty="0"/>
          </a:p>
        </p:txBody>
      </p:sp>
      <p:sp>
        <p:nvSpPr>
          <p:cNvPr id="13" name="Shape 10"/>
          <p:cNvSpPr/>
          <p:nvPr/>
        </p:nvSpPr>
        <p:spPr>
          <a:xfrm>
            <a:off x="5943600" y="2999232"/>
            <a:ext cx="2971800" cy="1874520"/>
          </a:xfrm>
          <a:prstGeom prst="rect">
            <a:avLst/>
          </a:prstGeom>
          <a:solidFill>
            <a:srgbClr val="131D2E"/>
          </a:solidFill>
          <a:ln w="12700">
            <a:solidFill>
              <a:srgbClr val="F59E0B"/>
            </a:solidFill>
            <a:prstDash val="solid"/>
          </a:ln>
          <a:effectLst>
            <a:outerShdw blurRad="76200" dist="38100" dir="8100000" algn="bl" rotWithShape="0">
              <a:srgbClr val="000000">
                <a:alpha val="28000"/>
              </a:srgbClr>
            </a:outerShdw>
          </a:effectLst>
        </p:spPr>
      </p:sp>
      <p:sp>
        <p:nvSpPr>
          <p:cNvPr id="14" name="Text 11"/>
          <p:cNvSpPr/>
          <p:nvPr/>
        </p:nvSpPr>
        <p:spPr>
          <a:xfrm>
            <a:off x="6080760" y="3090672"/>
            <a:ext cx="2651760" cy="274320"/>
          </a:xfrm>
          <a:prstGeom prst="rect">
            <a:avLst/>
          </a:prstGeom>
          <a:noFill/>
        </p:spPr>
        <p:txBody>
          <a:bodyPr wrap="square" lIns="0" tIns="0" rIns="0" bIns="0" rtlCol="0" anchor="ctr"/>
          <a:lstStyle/>
          <a:p>
            <a:pPr marL="0" indent="0">
              <a:buNone/>
            </a:pPr>
            <a:r>
              <a:rPr lang="en-US" sz="1300" b="1" dirty="0">
                <a:solidFill>
                  <a:srgbClr val="F59E0B"/>
                </a:solidFill>
                <a:latin typeface="Calibri" panose="020F0502020204030204" pitchFamily="34" charset="0"/>
                <a:ea typeface="Calibri" panose="020F0502020204030204" pitchFamily="34" charset="-122"/>
                <a:cs typeface="Calibri" panose="020F0502020204030204" pitchFamily="34" charset="-120"/>
              </a:rPr>
              <a:t>🧠  Qué aprendemos</a:t>
            </a:r>
            <a:endParaRPr lang="en-US" sz="1300" dirty="0"/>
          </a:p>
        </p:txBody>
      </p:sp>
      <p:sp>
        <p:nvSpPr>
          <p:cNvPr id="15" name="Text 12"/>
          <p:cNvSpPr/>
          <p:nvPr/>
        </p:nvSpPr>
        <p:spPr>
          <a:xfrm>
            <a:off x="6080760" y="3401568"/>
            <a:ext cx="2651760" cy="219456"/>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Invertir ≠ Tradear</a:t>
            </a:r>
            <a:endParaRPr lang="en-US" sz="1100" dirty="0"/>
          </a:p>
        </p:txBody>
      </p:sp>
      <p:sp>
        <p:nvSpPr>
          <p:cNvPr id="16" name="Text 13"/>
          <p:cNvSpPr/>
          <p:nvPr/>
        </p:nvSpPr>
        <p:spPr>
          <a:xfrm>
            <a:off x="6080760" y="3630168"/>
            <a:ext cx="2651760" cy="219456"/>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El coste operativo lo cambia todo</a:t>
            </a:r>
            <a:endParaRPr lang="en-US" sz="1100" dirty="0"/>
          </a:p>
        </p:txBody>
      </p:sp>
      <p:sp>
        <p:nvSpPr>
          <p:cNvPr id="17" name="Text 14"/>
          <p:cNvSpPr/>
          <p:nvPr/>
        </p:nvSpPr>
        <p:spPr>
          <a:xfrm>
            <a:off x="6080760" y="3858768"/>
            <a:ext cx="2651760" cy="219456"/>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El trading activo necesita edge real</a:t>
            </a:r>
            <a:endParaRPr lang="en-US" sz="1100" dirty="0"/>
          </a:p>
        </p:txBody>
      </p:sp>
      <p:sp>
        <p:nvSpPr>
          <p:cNvPr id="18" name="Text 15"/>
          <p:cNvSpPr/>
          <p:nvPr/>
        </p:nvSpPr>
        <p:spPr>
          <a:xfrm>
            <a:off x="6080760" y="4087368"/>
            <a:ext cx="2651760" cy="219456"/>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Este sistema identifica cuándo existe ese edge</a:t>
            </a:r>
            <a:endParaRPr lang="en-US" sz="1100" dirty="0"/>
          </a:p>
        </p:txBody>
      </p:sp>
      <p:sp>
        <p:nvSpPr>
          <p:cNvPr id="19" name="Shape 16"/>
          <p:cNvSpPr/>
          <p:nvPr/>
        </p:nvSpPr>
        <p:spPr>
          <a:xfrm>
            <a:off x="274320" y="4663440"/>
            <a:ext cx="8641080" cy="301752"/>
          </a:xfrm>
          <a:prstGeom prst="rect">
            <a:avLst/>
          </a:prstGeom>
          <a:solidFill>
            <a:srgbClr val="131D2E"/>
          </a:solidFill>
          <a:ln w="12700">
            <a:solidFill>
              <a:srgbClr val="F59E0B"/>
            </a:solidFill>
            <a:prstDash val="solid"/>
          </a:ln>
        </p:spPr>
      </p:sp>
      <p:sp>
        <p:nvSpPr>
          <p:cNvPr id="20" name="Text 17"/>
          <p:cNvSpPr/>
          <p:nvPr/>
        </p:nvSpPr>
        <p:spPr>
          <a:xfrm>
            <a:off x="411480" y="4681728"/>
            <a:ext cx="8321040" cy="256032"/>
          </a:xfrm>
          <a:prstGeom prst="rect">
            <a:avLst/>
          </a:prstGeom>
          <a:noFill/>
        </p:spPr>
        <p:txBody>
          <a:bodyPr wrap="square" lIns="0" tIns="0" rIns="0" bIns="0" rtlCol="0" anchor="ctr"/>
          <a:lstStyle/>
          <a:p>
            <a:pPr marL="0" indent="0" algn="ctr">
              <a:buNone/>
            </a:pPr>
            <a:r>
              <a:rPr lang="en-US" sz="1100" i="1" dirty="0">
                <a:solidFill>
                  <a:srgbClr val="F59E0B"/>
                </a:solidFill>
                <a:latin typeface="Calibri" panose="020F0502020204030204" pitchFamily="34" charset="0"/>
                <a:ea typeface="Calibri" panose="020F0502020204030204" pitchFamily="34" charset="-122"/>
                <a:cs typeface="Calibri" panose="020F0502020204030204" pitchFamily="34" charset="-120"/>
              </a:rPr>
              <a:t>"No superar al Buy &amp; Hold no es un fracaso — es confirmar que el trading activo necesita ventaja estadística real."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50292" y="0"/>
            <a:ext cx="9093708" cy="960120"/>
          </a:xfrm>
          <a:prstGeom prst="rect">
            <a:avLst/>
          </a:prstGeom>
          <a:solidFill>
            <a:srgbClr val="0D2137"/>
          </a:solidFill>
          <a:ln w="12700">
            <a:solidFill>
              <a:srgbClr val="0D2137"/>
            </a:solidFill>
            <a:prstDash val="solid"/>
          </a:ln>
        </p:spPr>
      </p:sp>
      <p:sp>
        <p:nvSpPr>
          <p:cNvPr id="4" name="Text 2"/>
          <p:cNvSpPr/>
          <p:nvPr/>
        </p:nvSpPr>
        <p:spPr>
          <a:xfrm>
            <a:off x="274320" y="164592"/>
            <a:ext cx="8595360" cy="530352"/>
          </a:xfrm>
          <a:prstGeom prst="rect">
            <a:avLst/>
          </a:prstGeom>
          <a:noFill/>
        </p:spPr>
        <p:txBody>
          <a:bodyPr wrap="square" lIns="0" tIns="0" rIns="0" bIns="0"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Conclusión — Lo Que Este Sistema Demuestra</a:t>
            </a:r>
            <a:endParaRPr lang="en-US" sz="2600" dirty="0"/>
          </a:p>
        </p:txBody>
      </p:sp>
      <p:sp>
        <p:nvSpPr>
          <p:cNvPr id="5" name="Text 3"/>
          <p:cNvSpPr/>
          <p:nvPr/>
        </p:nvSpPr>
        <p:spPr>
          <a:xfrm>
            <a:off x="274320" y="685800"/>
            <a:ext cx="8595360" cy="274320"/>
          </a:xfrm>
          <a:prstGeom prst="rect">
            <a:avLst/>
          </a:prstGeom>
          <a:noFill/>
        </p:spPr>
        <p:txBody>
          <a:bodyPr wrap="square" lIns="0" tIns="0" rIns="0" bIns="0" rtlCol="0" anchor="ctr"/>
          <a:lstStyle/>
          <a:p>
            <a:pPr marL="0" indent="0">
              <a:buNone/>
            </a:pPr>
            <a:r>
              <a:rPr lang="en-US" sz="1300" i="1" dirty="0">
                <a:solidFill>
                  <a:srgbClr val="F59E0B"/>
                </a:solidFill>
                <a:latin typeface="Calibri" panose="020F0502020204030204" pitchFamily="34" charset="0"/>
                <a:ea typeface="Calibri" panose="020F0502020204030204" pitchFamily="34" charset="-122"/>
                <a:cs typeface="Calibri" panose="020F0502020204030204" pitchFamily="34" charset="-120"/>
              </a:rPr>
              <a:t>No construimos un predictor perfecto — construimos un sistema de decisión inteligente</a:t>
            </a:r>
            <a:endParaRPr lang="en-US" sz="1300" dirty="0"/>
          </a:p>
        </p:txBody>
      </p:sp>
      <p:sp>
        <p:nvSpPr>
          <p:cNvPr id="6" name="Shape 4"/>
          <p:cNvSpPr/>
          <p:nvPr/>
        </p:nvSpPr>
        <p:spPr>
          <a:xfrm>
            <a:off x="274320" y="1024128"/>
            <a:ext cx="8641080" cy="1234440"/>
          </a:xfrm>
          <a:prstGeom prst="rect">
            <a:avLst/>
          </a:prstGeom>
          <a:solidFill>
            <a:srgbClr val="131D2E"/>
          </a:solidFill>
          <a:ln w="25400">
            <a:solidFill>
              <a:srgbClr val="F59E0B"/>
            </a:solidFill>
            <a:prstDash val="solid"/>
          </a:ln>
          <a:effectLst>
            <a:outerShdw blurRad="76200" dist="38100" dir="8100000" algn="bl" rotWithShape="0">
              <a:srgbClr val="000000">
                <a:alpha val="28000"/>
              </a:srgbClr>
            </a:outerShdw>
          </a:effectLst>
        </p:spPr>
      </p:sp>
      <p:sp>
        <p:nvSpPr>
          <p:cNvPr id="7" name="Text 5"/>
          <p:cNvSpPr/>
          <p:nvPr/>
        </p:nvSpPr>
        <p:spPr>
          <a:xfrm>
            <a:off x="457200" y="1078992"/>
            <a:ext cx="8275320" cy="1115568"/>
          </a:xfrm>
          <a:prstGeom prst="rect">
            <a:avLst/>
          </a:prstGeom>
          <a:noFill/>
        </p:spPr>
        <p:txBody>
          <a:bodyPr wrap="square" lIns="0" tIns="0" rIns="0" bIns="0" rtlCol="0" anchor="ctr"/>
          <a:lstStyle/>
          <a:p>
            <a:pPr marL="0" indent="0" algn="ctr">
              <a:buNone/>
            </a:pPr>
            <a:r>
              <a:rPr lang="en-US" sz="1800" b="1" i="1" dirty="0">
                <a:solidFill>
                  <a:srgbClr val="F59E0B"/>
                </a:solidFill>
                <a:latin typeface="Calibri" panose="020F0502020204030204" pitchFamily="34" charset="0"/>
                <a:ea typeface="Calibri" panose="020F0502020204030204" pitchFamily="34" charset="-122"/>
                <a:cs typeface="Calibri" panose="020F0502020204030204" pitchFamily="34" charset="-120"/>
              </a:rPr>
              <a:t>"El modelo predice dirección.</a:t>
            </a:r>
            <a:endParaRPr lang="en-US" sz="1800" dirty="0"/>
          </a:p>
          <a:p>
            <a:pPr marL="0" indent="0" algn="ctr">
              <a:buNone/>
            </a:pPr>
            <a:r>
              <a:rPr lang="en-US" sz="1800" b="1" i="1" dirty="0">
                <a:solidFill>
                  <a:srgbClr val="F59E0B"/>
                </a:solidFill>
                <a:latin typeface="Calibri" panose="020F0502020204030204" pitchFamily="34" charset="0"/>
                <a:ea typeface="Calibri" panose="020F0502020204030204" pitchFamily="34" charset="-122"/>
                <a:cs typeface="Calibri" panose="020F0502020204030204" pitchFamily="34" charset="-120"/>
              </a:rPr>
              <a:t>El sistema decide cuándo actuar.</a:t>
            </a:r>
            <a:endParaRPr lang="en-US" sz="1800" dirty="0"/>
          </a:p>
          <a:p>
            <a:pPr marL="0" indent="0" algn="ctr">
              <a:buNone/>
            </a:pPr>
            <a:r>
              <a:rPr lang="en-US" sz="1800" b="1" i="1" dirty="0">
                <a:solidFill>
                  <a:srgbClr val="F59E0B"/>
                </a:solidFill>
                <a:latin typeface="Calibri" panose="020F0502020204030204" pitchFamily="34" charset="0"/>
                <a:ea typeface="Calibri" panose="020F0502020204030204" pitchFamily="34" charset="-122"/>
                <a:cs typeface="Calibri" panose="020F0502020204030204" pitchFamily="34" charset="-120"/>
              </a:rPr>
              <a:t>Esa distinción es lo que separa el ML académico del ML aplicado."</a:t>
            </a:r>
            <a:endParaRPr lang="en-US" sz="1800" dirty="0"/>
          </a:p>
        </p:txBody>
      </p:sp>
      <p:sp>
        <p:nvSpPr>
          <p:cNvPr id="8" name="Shape 6"/>
          <p:cNvSpPr/>
          <p:nvPr/>
        </p:nvSpPr>
        <p:spPr>
          <a:xfrm>
            <a:off x="274320" y="2395728"/>
            <a:ext cx="2788920" cy="2560320"/>
          </a:xfrm>
          <a:prstGeom prst="rect">
            <a:avLst/>
          </a:prstGeom>
          <a:solidFill>
            <a:srgbClr val="131D2E"/>
          </a:solidFill>
          <a:ln w="12700">
            <a:solidFill>
              <a:srgbClr val="0EA5E9"/>
            </a:solidFill>
            <a:prstDash val="solid"/>
          </a:ln>
          <a:effectLst>
            <a:outerShdw blurRad="76200" dist="38100" dir="8100000" algn="bl" rotWithShape="0">
              <a:srgbClr val="000000">
                <a:alpha val="28000"/>
              </a:srgbClr>
            </a:outerShdw>
          </a:effectLst>
        </p:spPr>
      </p:sp>
      <p:sp>
        <p:nvSpPr>
          <p:cNvPr id="9" name="Shape 7"/>
          <p:cNvSpPr/>
          <p:nvPr/>
        </p:nvSpPr>
        <p:spPr>
          <a:xfrm>
            <a:off x="274320" y="2395728"/>
            <a:ext cx="411480" cy="2560320"/>
          </a:xfrm>
          <a:prstGeom prst="rect">
            <a:avLst/>
          </a:prstGeom>
          <a:solidFill>
            <a:srgbClr val="0EA5E9"/>
          </a:solidFill>
          <a:ln w="12700">
            <a:solidFill>
              <a:srgbClr val="0EA5E9"/>
            </a:solidFill>
            <a:prstDash val="solid"/>
          </a:ln>
        </p:spPr>
      </p:sp>
      <p:sp>
        <p:nvSpPr>
          <p:cNvPr id="10" name="Text 8"/>
          <p:cNvSpPr/>
          <p:nvPr/>
        </p:nvSpPr>
        <p:spPr>
          <a:xfrm>
            <a:off x="274320" y="2395728"/>
            <a:ext cx="411480" cy="502920"/>
          </a:xfrm>
          <a:prstGeom prst="rect">
            <a:avLst/>
          </a:prstGeom>
          <a:noFill/>
        </p:spPr>
        <p:txBody>
          <a:bodyPr wrap="square" lIns="0" tIns="0" rIns="0" bIns="0" rtlCol="0" anchor="ctr"/>
          <a:lstStyle/>
          <a:p>
            <a:pPr marL="0" indent="0" algn="ctr">
              <a:buNone/>
            </a:pPr>
            <a:r>
              <a:rPr lang="en-US" sz="1400" b="1" dirty="0">
                <a:solidFill>
                  <a:srgbClr val="0D1117"/>
                </a:solidFill>
                <a:latin typeface="Calibri" panose="020F0502020204030204" pitchFamily="34" charset="0"/>
                <a:ea typeface="Calibri" panose="020F0502020204030204" pitchFamily="34" charset="-122"/>
                <a:cs typeface="Calibri" panose="020F0502020204030204" pitchFamily="34" charset="-120"/>
              </a:rPr>
              <a:t>01</a:t>
            </a:r>
            <a:endParaRPr lang="en-US" sz="1400" dirty="0"/>
          </a:p>
        </p:txBody>
      </p:sp>
      <p:sp>
        <p:nvSpPr>
          <p:cNvPr id="11" name="Text 9"/>
          <p:cNvSpPr/>
          <p:nvPr/>
        </p:nvSpPr>
        <p:spPr>
          <a:xfrm>
            <a:off x="777240" y="2487168"/>
            <a:ext cx="2176272" cy="347472"/>
          </a:xfrm>
          <a:prstGeom prst="rect">
            <a:avLst/>
          </a:prstGeom>
          <a:noFill/>
        </p:spPr>
        <p:txBody>
          <a:bodyPr wrap="square" lIns="0" tIns="0" rIns="0" bIns="0" rtlCol="0" anchor="ctr"/>
          <a:lstStyle/>
          <a:p>
            <a:pPr marL="0" indent="0">
              <a:buNone/>
            </a:pPr>
            <a:r>
              <a:rPr lang="en-US" sz="1300" b="1" dirty="0">
                <a:solidFill>
                  <a:srgbClr val="0EA5E9"/>
                </a:solidFill>
                <a:latin typeface="Calibri" panose="020F0502020204030204" pitchFamily="34" charset="0"/>
                <a:ea typeface="Calibri" panose="020F0502020204030204" pitchFamily="34" charset="-122"/>
                <a:cs typeface="Calibri" panose="020F0502020204030204" pitchFamily="34" charset="-120"/>
              </a:rPr>
              <a:t>Edge &gt; Accuracy</a:t>
            </a:r>
            <a:endParaRPr lang="en-US" sz="1300" dirty="0"/>
          </a:p>
        </p:txBody>
      </p:sp>
      <p:sp>
        <p:nvSpPr>
          <p:cNvPr id="12" name="Text 10"/>
          <p:cNvSpPr/>
          <p:nvPr/>
        </p:nvSpPr>
        <p:spPr>
          <a:xfrm>
            <a:off x="777240" y="2907792"/>
            <a:ext cx="2176272" cy="320040"/>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ROC-AUC 0.53 con filtros correctos puede ser viable</a:t>
            </a:r>
            <a:endParaRPr lang="en-US" sz="1100" dirty="0"/>
          </a:p>
        </p:txBody>
      </p:sp>
      <p:sp>
        <p:nvSpPr>
          <p:cNvPr id="13" name="Text 11"/>
          <p:cNvSpPr/>
          <p:nvPr/>
        </p:nvSpPr>
        <p:spPr>
          <a:xfrm>
            <a:off x="777240" y="3246120"/>
            <a:ext cx="2176272" cy="320040"/>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La métrica de entrenamiento ≠ rentabilidad en producción</a:t>
            </a:r>
            <a:endParaRPr lang="en-US" sz="1100" dirty="0"/>
          </a:p>
        </p:txBody>
      </p:sp>
      <p:sp>
        <p:nvSpPr>
          <p:cNvPr id="14" name="Text 12"/>
          <p:cNvSpPr/>
          <p:nvPr/>
        </p:nvSpPr>
        <p:spPr>
          <a:xfrm>
            <a:off x="777240" y="3584448"/>
            <a:ext cx="2176272" cy="320040"/>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Optimizar por Sharpe cambia todo el resultado</a:t>
            </a:r>
            <a:endParaRPr lang="en-US" sz="1100" dirty="0"/>
          </a:p>
        </p:txBody>
      </p:sp>
      <p:sp>
        <p:nvSpPr>
          <p:cNvPr id="15" name="Shape 13"/>
          <p:cNvSpPr/>
          <p:nvPr/>
        </p:nvSpPr>
        <p:spPr>
          <a:xfrm>
            <a:off x="3200400" y="2395728"/>
            <a:ext cx="2788920" cy="2560320"/>
          </a:xfrm>
          <a:prstGeom prst="rect">
            <a:avLst/>
          </a:prstGeom>
          <a:solidFill>
            <a:srgbClr val="131D2E"/>
          </a:solidFill>
          <a:ln w="12700">
            <a:solidFill>
              <a:srgbClr val="F59E0B"/>
            </a:solidFill>
            <a:prstDash val="solid"/>
          </a:ln>
          <a:effectLst>
            <a:outerShdw blurRad="76200" dist="38100" dir="8100000" algn="bl" rotWithShape="0">
              <a:srgbClr val="000000">
                <a:alpha val="28000"/>
              </a:srgbClr>
            </a:outerShdw>
          </a:effectLst>
        </p:spPr>
      </p:sp>
      <p:sp>
        <p:nvSpPr>
          <p:cNvPr id="16" name="Shape 14"/>
          <p:cNvSpPr/>
          <p:nvPr/>
        </p:nvSpPr>
        <p:spPr>
          <a:xfrm>
            <a:off x="3200400" y="2395728"/>
            <a:ext cx="411480" cy="2560320"/>
          </a:xfrm>
          <a:prstGeom prst="rect">
            <a:avLst/>
          </a:prstGeom>
          <a:solidFill>
            <a:srgbClr val="F59E0B"/>
          </a:solidFill>
          <a:ln w="12700">
            <a:solidFill>
              <a:srgbClr val="F59E0B"/>
            </a:solidFill>
            <a:prstDash val="solid"/>
          </a:ln>
        </p:spPr>
      </p:sp>
      <p:sp>
        <p:nvSpPr>
          <p:cNvPr id="17" name="Text 15"/>
          <p:cNvSpPr/>
          <p:nvPr/>
        </p:nvSpPr>
        <p:spPr>
          <a:xfrm>
            <a:off x="3200400" y="2395728"/>
            <a:ext cx="411480" cy="502920"/>
          </a:xfrm>
          <a:prstGeom prst="rect">
            <a:avLst/>
          </a:prstGeom>
          <a:noFill/>
        </p:spPr>
        <p:txBody>
          <a:bodyPr wrap="square" lIns="0" tIns="0" rIns="0" bIns="0" rtlCol="0" anchor="ctr"/>
          <a:lstStyle/>
          <a:p>
            <a:pPr marL="0" indent="0" algn="ctr">
              <a:buNone/>
            </a:pPr>
            <a:r>
              <a:rPr lang="en-US" sz="1400" b="1" dirty="0">
                <a:solidFill>
                  <a:srgbClr val="0D1117"/>
                </a:solidFill>
                <a:latin typeface="Calibri" panose="020F0502020204030204" pitchFamily="34" charset="0"/>
                <a:ea typeface="Calibri" panose="020F0502020204030204" pitchFamily="34" charset="-122"/>
                <a:cs typeface="Calibri" panose="020F0502020204030204" pitchFamily="34" charset="-120"/>
              </a:rPr>
              <a:t>02</a:t>
            </a:r>
            <a:endParaRPr lang="en-US" sz="1400" dirty="0"/>
          </a:p>
        </p:txBody>
      </p:sp>
      <p:sp>
        <p:nvSpPr>
          <p:cNvPr id="18" name="Text 16"/>
          <p:cNvSpPr/>
          <p:nvPr/>
        </p:nvSpPr>
        <p:spPr>
          <a:xfrm>
            <a:off x="3703320" y="2487168"/>
            <a:ext cx="2176272" cy="347472"/>
          </a:xfrm>
          <a:prstGeom prst="rect">
            <a:avLst/>
          </a:prstGeom>
          <a:noFill/>
        </p:spPr>
        <p:txBody>
          <a:bodyPr wrap="square" lIns="0" tIns="0" rIns="0" bIns="0" rtlCol="0" anchor="ctr"/>
          <a:lstStyle/>
          <a:p>
            <a:pPr marL="0" indent="0">
              <a:buNone/>
            </a:pPr>
            <a:r>
              <a:rPr lang="en-US" sz="1300" b="1" dirty="0">
                <a:solidFill>
                  <a:srgbClr val="F59E0B"/>
                </a:solidFill>
                <a:latin typeface="Calibri" panose="020F0502020204030204" pitchFamily="34" charset="0"/>
                <a:ea typeface="Calibri" panose="020F0502020204030204" pitchFamily="34" charset="-122"/>
                <a:cs typeface="Calibri" panose="020F0502020204030204" pitchFamily="34" charset="-120"/>
              </a:rPr>
              <a:t>Filtros &gt; Modelos</a:t>
            </a:r>
            <a:endParaRPr lang="en-US" sz="1300" dirty="0"/>
          </a:p>
        </p:txBody>
      </p:sp>
      <p:sp>
        <p:nvSpPr>
          <p:cNvPr id="19" name="Text 17"/>
          <p:cNvSpPr/>
          <p:nvPr/>
        </p:nvSpPr>
        <p:spPr>
          <a:xfrm>
            <a:off x="3703320" y="2907792"/>
            <a:ext cx="2176272" cy="320040"/>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6 filtros reducen trades un 85%</a:t>
            </a:r>
            <a:endParaRPr lang="en-US" sz="1100" dirty="0"/>
          </a:p>
        </p:txBody>
      </p:sp>
      <p:sp>
        <p:nvSpPr>
          <p:cNvPr id="20" name="Text 18"/>
          <p:cNvSpPr/>
          <p:nvPr/>
        </p:nvSpPr>
        <p:spPr>
          <a:xfrm>
            <a:off x="3703320" y="3246120"/>
            <a:ext cx="2176272" cy="320040"/>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Cada filtro elimina una categoría de pérdidas</a:t>
            </a:r>
            <a:endParaRPr lang="en-US" sz="1100" dirty="0"/>
          </a:p>
        </p:txBody>
      </p:sp>
      <p:sp>
        <p:nvSpPr>
          <p:cNvPr id="21" name="Text 19"/>
          <p:cNvSpPr/>
          <p:nvPr/>
        </p:nvSpPr>
        <p:spPr>
          <a:xfrm>
            <a:off x="3703320" y="3584448"/>
            <a:ext cx="2176272" cy="320040"/>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El sistema opera poco, pero opera bien</a:t>
            </a:r>
            <a:endParaRPr lang="en-US" sz="1100" dirty="0"/>
          </a:p>
        </p:txBody>
      </p:sp>
      <p:sp>
        <p:nvSpPr>
          <p:cNvPr id="22" name="Shape 20"/>
          <p:cNvSpPr/>
          <p:nvPr/>
        </p:nvSpPr>
        <p:spPr>
          <a:xfrm>
            <a:off x="6126480" y="2395728"/>
            <a:ext cx="2788920" cy="2560320"/>
          </a:xfrm>
          <a:prstGeom prst="rect">
            <a:avLst/>
          </a:prstGeom>
          <a:solidFill>
            <a:srgbClr val="131D2E"/>
          </a:solidFill>
          <a:ln w="12700">
            <a:solidFill>
              <a:srgbClr val="10B981"/>
            </a:solidFill>
            <a:prstDash val="solid"/>
          </a:ln>
          <a:effectLst>
            <a:outerShdw blurRad="76200" dist="38100" dir="8100000" algn="bl" rotWithShape="0">
              <a:srgbClr val="000000">
                <a:alpha val="28000"/>
              </a:srgbClr>
            </a:outerShdw>
          </a:effectLst>
        </p:spPr>
      </p:sp>
      <p:sp>
        <p:nvSpPr>
          <p:cNvPr id="23" name="Shape 21"/>
          <p:cNvSpPr/>
          <p:nvPr/>
        </p:nvSpPr>
        <p:spPr>
          <a:xfrm>
            <a:off x="6126480" y="2395728"/>
            <a:ext cx="411480" cy="2560320"/>
          </a:xfrm>
          <a:prstGeom prst="rect">
            <a:avLst/>
          </a:prstGeom>
          <a:solidFill>
            <a:srgbClr val="10B981"/>
          </a:solidFill>
          <a:ln w="12700">
            <a:solidFill>
              <a:srgbClr val="10B981"/>
            </a:solidFill>
            <a:prstDash val="solid"/>
          </a:ln>
        </p:spPr>
      </p:sp>
      <p:sp>
        <p:nvSpPr>
          <p:cNvPr id="24" name="Text 22"/>
          <p:cNvSpPr/>
          <p:nvPr/>
        </p:nvSpPr>
        <p:spPr>
          <a:xfrm>
            <a:off x="6126480" y="2395728"/>
            <a:ext cx="411480" cy="502920"/>
          </a:xfrm>
          <a:prstGeom prst="rect">
            <a:avLst/>
          </a:prstGeom>
          <a:noFill/>
        </p:spPr>
        <p:txBody>
          <a:bodyPr wrap="square" lIns="0" tIns="0" rIns="0" bIns="0" rtlCol="0" anchor="ctr"/>
          <a:lstStyle/>
          <a:p>
            <a:pPr marL="0" indent="0" algn="ctr">
              <a:buNone/>
            </a:pPr>
            <a:r>
              <a:rPr lang="en-US" sz="1400" b="1" dirty="0">
                <a:solidFill>
                  <a:srgbClr val="0D1117"/>
                </a:solidFill>
                <a:latin typeface="Calibri" panose="020F0502020204030204" pitchFamily="34" charset="0"/>
                <a:ea typeface="Calibri" panose="020F0502020204030204" pitchFamily="34" charset="-122"/>
                <a:cs typeface="Calibri" panose="020F0502020204030204" pitchFamily="34" charset="-120"/>
              </a:rPr>
              <a:t>03</a:t>
            </a:r>
            <a:endParaRPr lang="en-US" sz="1400" dirty="0"/>
          </a:p>
        </p:txBody>
      </p:sp>
      <p:sp>
        <p:nvSpPr>
          <p:cNvPr id="25" name="Text 23"/>
          <p:cNvSpPr/>
          <p:nvPr/>
        </p:nvSpPr>
        <p:spPr>
          <a:xfrm>
            <a:off x="6629400" y="2487168"/>
            <a:ext cx="2176272" cy="347472"/>
          </a:xfrm>
          <a:prstGeom prst="rect">
            <a:avLst/>
          </a:prstGeom>
          <a:noFill/>
        </p:spPr>
        <p:txBody>
          <a:bodyPr wrap="square" lIns="0" tIns="0" rIns="0" bIns="0" rtlCol="0" anchor="ct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ML como Capa de Decisión</a:t>
            </a:r>
            <a:endParaRPr lang="en-US" sz="1300" dirty="0"/>
          </a:p>
        </p:txBody>
      </p:sp>
      <p:sp>
        <p:nvSpPr>
          <p:cNvPr id="26" name="Text 24"/>
          <p:cNvSpPr/>
          <p:nvPr/>
        </p:nvSpPr>
        <p:spPr>
          <a:xfrm>
            <a:off x="6629400" y="2907792"/>
            <a:ext cx="2176272" cy="320040"/>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No es un oráculo — es un filtro de alta convicción</a:t>
            </a:r>
            <a:endParaRPr lang="en-US" sz="1100" dirty="0"/>
          </a:p>
        </p:txBody>
      </p:sp>
      <p:sp>
        <p:nvSpPr>
          <p:cNvPr id="27" name="Text 25"/>
          <p:cNvSpPr/>
          <p:nvPr/>
        </p:nvSpPr>
        <p:spPr>
          <a:xfrm>
            <a:off x="6629400" y="3246120"/>
            <a:ext cx="2176272" cy="320040"/>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Probabilidad + contexto macro + régimen = señal robusta</a:t>
            </a:r>
            <a:endParaRPr lang="en-US" sz="1100" dirty="0"/>
          </a:p>
        </p:txBody>
      </p:sp>
      <p:sp>
        <p:nvSpPr>
          <p:cNvPr id="28" name="Text 26"/>
          <p:cNvSpPr/>
          <p:nvPr/>
        </p:nvSpPr>
        <p:spPr>
          <a:xfrm>
            <a:off x="6629400" y="3584448"/>
            <a:ext cx="2176272" cy="320040"/>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Arquitectura replicable en cualquier activo financiero</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50292" y="0"/>
            <a:ext cx="9093708" cy="960120"/>
          </a:xfrm>
          <a:prstGeom prst="rect">
            <a:avLst/>
          </a:prstGeom>
          <a:solidFill>
            <a:srgbClr val="0D2137"/>
          </a:solidFill>
          <a:ln w="12700">
            <a:solidFill>
              <a:srgbClr val="0D2137"/>
            </a:solidFill>
            <a:prstDash val="solid"/>
          </a:ln>
        </p:spPr>
      </p:sp>
      <p:sp>
        <p:nvSpPr>
          <p:cNvPr id="4" name="Text 2"/>
          <p:cNvSpPr/>
          <p:nvPr/>
        </p:nvSpPr>
        <p:spPr>
          <a:xfrm>
            <a:off x="274320" y="164592"/>
            <a:ext cx="8595360" cy="530352"/>
          </a:xfrm>
          <a:prstGeom prst="rect">
            <a:avLst/>
          </a:prstGeom>
          <a:noFill/>
        </p:spPr>
        <p:txBody>
          <a:bodyPr wrap="square" lIns="0" tIns="0" rIns="0" bIns="0" rtlCol="0" anchor="ctr"/>
          <a:lstStyle/>
          <a:p>
            <a:pPr marL="0" indent="0">
              <a:buNone/>
            </a:pPr>
            <a:r>
              <a:rPr lang="en-US" sz="2600" b="1" dirty="0">
                <a:solidFill>
                  <a:srgbClr val="10B981"/>
                </a:solidFill>
                <a:latin typeface="Calibri" panose="020F0502020204030204" pitchFamily="34" charset="0"/>
                <a:ea typeface="Calibri" panose="020F0502020204030204" pitchFamily="34" charset="-122"/>
                <a:cs typeface="Calibri" panose="020F0502020204030204" pitchFamily="34" charset="-120"/>
              </a:rPr>
              <a:t>Caso de Uso Real — Trader con el Sistema</a:t>
            </a:r>
            <a:endParaRPr lang="en-US" sz="2600" dirty="0"/>
          </a:p>
        </p:txBody>
      </p:sp>
      <p:sp>
        <p:nvSpPr>
          <p:cNvPr id="5" name="Text 3"/>
          <p:cNvSpPr/>
          <p:nvPr/>
        </p:nvSpPr>
        <p:spPr>
          <a:xfrm>
            <a:off x="274320" y="685800"/>
            <a:ext cx="8595360" cy="27432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Cómo un trader profesional integraría este sistema en su workflow diario</a:t>
            </a:r>
            <a:endParaRPr lang="en-US" sz="1200" dirty="0"/>
          </a:p>
        </p:txBody>
      </p:sp>
      <p:sp>
        <p:nvSpPr>
          <p:cNvPr id="6" name="Shape 4"/>
          <p:cNvSpPr/>
          <p:nvPr/>
        </p:nvSpPr>
        <p:spPr>
          <a:xfrm>
            <a:off x="274320" y="1051560"/>
            <a:ext cx="4251960" cy="1737360"/>
          </a:xfrm>
          <a:prstGeom prst="rect">
            <a:avLst/>
          </a:prstGeom>
          <a:solidFill>
            <a:srgbClr val="131D2E"/>
          </a:solidFill>
          <a:ln w="12700">
            <a:solidFill>
              <a:srgbClr val="10B981"/>
            </a:solidFill>
            <a:prstDash val="solid"/>
          </a:ln>
          <a:effectLst>
            <a:outerShdw blurRad="76200" dist="38100" dir="8100000" algn="bl" rotWithShape="0">
              <a:srgbClr val="000000">
                <a:alpha val="28000"/>
              </a:srgbClr>
            </a:outerShdw>
          </a:effectLst>
        </p:spPr>
      </p:sp>
      <p:sp>
        <p:nvSpPr>
          <p:cNvPr id="7" name="Text 5"/>
          <p:cNvSpPr/>
          <p:nvPr/>
        </p:nvSpPr>
        <p:spPr>
          <a:xfrm>
            <a:off x="457200" y="1161288"/>
            <a:ext cx="3886200" cy="292608"/>
          </a:xfrm>
          <a:prstGeom prst="rect">
            <a:avLst/>
          </a:prstGeom>
          <a:noFill/>
        </p:spPr>
        <p:txBody>
          <a:bodyPr wrap="square" lIns="0" tIns="0" rIns="0" bIns="0" rtlCol="0" anchor="ctr"/>
          <a:lstStyle/>
          <a:p>
            <a:pPr marL="0" indent="0">
              <a:buNone/>
            </a:pPr>
            <a:r>
              <a:rPr lang="en-US" sz="1200" b="1" dirty="0">
                <a:solidFill>
                  <a:srgbClr val="10B981"/>
                </a:solidFill>
                <a:latin typeface="Calibri" panose="020F0502020204030204" pitchFamily="34" charset="0"/>
                <a:ea typeface="Calibri" panose="020F0502020204030204" pitchFamily="34" charset="-122"/>
                <a:cs typeface="Calibri" panose="020F0502020204030204" pitchFamily="34" charset="-120"/>
              </a:rPr>
              <a:t>🌅  7:00</a:t>
            </a:r>
            <a:endParaRPr lang="en-US" sz="1200" dirty="0"/>
          </a:p>
        </p:txBody>
      </p:sp>
      <p:sp>
        <p:nvSpPr>
          <p:cNvPr id="8" name="Text 6"/>
          <p:cNvSpPr/>
          <p:nvPr/>
        </p:nvSpPr>
        <p:spPr>
          <a:xfrm>
            <a:off x="457200" y="1463040"/>
            <a:ext cx="3886200" cy="27432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Apertura europea</a:t>
            </a:r>
            <a:endParaRPr lang="en-US" sz="1400" dirty="0"/>
          </a:p>
        </p:txBody>
      </p:sp>
      <p:sp>
        <p:nvSpPr>
          <p:cNvPr id="9" name="Text 7"/>
          <p:cNvSpPr/>
          <p:nvPr/>
        </p:nvSpPr>
        <p:spPr>
          <a:xfrm>
            <a:off x="457200" y="1764792"/>
            <a:ext cx="3886200" cy="91440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El sistema analiza las últimas velas H4 y D1.</a:t>
            </a:r>
            <a:endParaRPr lang="en-US" sz="1100" dirty="0"/>
          </a:p>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Verifica ATR, ADX, EMA y régimen KMeans.</a:t>
            </a:r>
            <a:endParaRPr lang="en-US" sz="1100" dirty="0"/>
          </a:p>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Emite señal preliminar con probabilidad.</a:t>
            </a:r>
            <a:endParaRPr lang="en-US" sz="1100" dirty="0"/>
          </a:p>
        </p:txBody>
      </p:sp>
      <p:sp>
        <p:nvSpPr>
          <p:cNvPr id="10" name="Shape 8"/>
          <p:cNvSpPr/>
          <p:nvPr/>
        </p:nvSpPr>
        <p:spPr>
          <a:xfrm>
            <a:off x="4709160" y="1051560"/>
            <a:ext cx="4251960" cy="1737360"/>
          </a:xfrm>
          <a:prstGeom prst="rect">
            <a:avLst/>
          </a:prstGeom>
          <a:solidFill>
            <a:srgbClr val="131D2E"/>
          </a:solidFill>
          <a:ln w="12700">
            <a:solidFill>
              <a:srgbClr val="10B981"/>
            </a:solidFill>
            <a:prstDash val="solid"/>
          </a:ln>
          <a:effectLst>
            <a:outerShdw blurRad="76200" dist="38100" dir="8100000" algn="bl" rotWithShape="0">
              <a:srgbClr val="000000">
                <a:alpha val="28000"/>
              </a:srgbClr>
            </a:outerShdw>
          </a:effectLst>
        </p:spPr>
      </p:sp>
      <p:sp>
        <p:nvSpPr>
          <p:cNvPr id="11" name="Text 9"/>
          <p:cNvSpPr/>
          <p:nvPr/>
        </p:nvSpPr>
        <p:spPr>
          <a:xfrm>
            <a:off x="4892040" y="1161288"/>
            <a:ext cx="3886200" cy="292608"/>
          </a:xfrm>
          <a:prstGeom prst="rect">
            <a:avLst/>
          </a:prstGeom>
          <a:noFill/>
        </p:spPr>
        <p:txBody>
          <a:bodyPr wrap="square" lIns="0" tIns="0" rIns="0" bIns="0" rtlCol="0" anchor="ctr"/>
          <a:lstStyle/>
          <a:p>
            <a:pPr marL="0" indent="0">
              <a:buNone/>
            </a:pPr>
            <a:r>
              <a:rPr lang="en-US" sz="1200" b="1" dirty="0">
                <a:solidFill>
                  <a:srgbClr val="10B981"/>
                </a:solidFill>
                <a:latin typeface="Calibri" panose="020F0502020204030204" pitchFamily="34" charset="0"/>
                <a:ea typeface="Calibri" panose="020F0502020204030204" pitchFamily="34" charset="-122"/>
                <a:cs typeface="Calibri" panose="020F0502020204030204" pitchFamily="34" charset="-120"/>
              </a:rPr>
              <a:t>📊  8:30</a:t>
            </a:r>
            <a:endParaRPr lang="en-US" sz="1200" dirty="0"/>
          </a:p>
        </p:txBody>
      </p:sp>
      <p:sp>
        <p:nvSpPr>
          <p:cNvPr id="12" name="Text 10"/>
          <p:cNvSpPr/>
          <p:nvPr/>
        </p:nvSpPr>
        <p:spPr>
          <a:xfrm>
            <a:off x="4892040" y="1463040"/>
            <a:ext cx="3886200" cy="27432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Verificación macro</a:t>
            </a:r>
            <a:endParaRPr lang="en-US" sz="1400" dirty="0"/>
          </a:p>
        </p:txBody>
      </p:sp>
      <p:sp>
        <p:nvSpPr>
          <p:cNvPr id="13" name="Text 11"/>
          <p:cNvSpPr/>
          <p:nvPr/>
        </p:nvSpPr>
        <p:spPr>
          <a:xfrm>
            <a:off x="4892040" y="1764792"/>
            <a:ext cx="3886200" cy="91440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El trader revisa el contexto DXY y FOMC.</a:t>
            </a:r>
            <a:endParaRPr lang="en-US" sz="1100" dirty="0"/>
          </a:p>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El sistema ya filtró coherencia macro automáticamente.</a:t>
            </a:r>
            <a:endParaRPr lang="en-US" sz="1100" dirty="0"/>
          </a:p>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Decide si refuerza o ignora la señal.</a:t>
            </a:r>
            <a:endParaRPr lang="en-US" sz="1100" dirty="0"/>
          </a:p>
        </p:txBody>
      </p:sp>
      <p:sp>
        <p:nvSpPr>
          <p:cNvPr id="14" name="Shape 12"/>
          <p:cNvSpPr/>
          <p:nvPr/>
        </p:nvSpPr>
        <p:spPr>
          <a:xfrm>
            <a:off x="274320" y="2953512"/>
            <a:ext cx="4251960" cy="1737360"/>
          </a:xfrm>
          <a:prstGeom prst="rect">
            <a:avLst/>
          </a:prstGeom>
          <a:solidFill>
            <a:srgbClr val="131D2E"/>
          </a:solidFill>
          <a:ln w="12700">
            <a:solidFill>
              <a:srgbClr val="10B981"/>
            </a:solidFill>
            <a:prstDash val="solid"/>
          </a:ln>
          <a:effectLst>
            <a:outerShdw blurRad="76200" dist="38100" dir="8100000" algn="bl" rotWithShape="0">
              <a:srgbClr val="000000">
                <a:alpha val="28000"/>
              </a:srgbClr>
            </a:outerShdw>
          </a:effectLst>
        </p:spPr>
      </p:sp>
      <p:sp>
        <p:nvSpPr>
          <p:cNvPr id="15" name="Text 13"/>
          <p:cNvSpPr/>
          <p:nvPr/>
        </p:nvSpPr>
        <p:spPr>
          <a:xfrm>
            <a:off x="457200" y="3063240"/>
            <a:ext cx="3886200" cy="292608"/>
          </a:xfrm>
          <a:prstGeom prst="rect">
            <a:avLst/>
          </a:prstGeom>
          <a:noFill/>
        </p:spPr>
        <p:txBody>
          <a:bodyPr wrap="square" lIns="0" tIns="0" rIns="0" bIns="0" rtlCol="0" anchor="ctr"/>
          <a:lstStyle/>
          <a:p>
            <a:pPr marL="0" indent="0">
              <a:buNone/>
            </a:pPr>
            <a:r>
              <a:rPr lang="en-US" sz="1200" b="1" dirty="0">
                <a:solidFill>
                  <a:srgbClr val="10B981"/>
                </a:solidFill>
                <a:latin typeface="Calibri" panose="020F0502020204030204" pitchFamily="34" charset="0"/>
                <a:ea typeface="Calibri" panose="020F0502020204030204" pitchFamily="34" charset="-122"/>
                <a:cs typeface="Calibri" panose="020F0502020204030204" pitchFamily="34" charset="-120"/>
              </a:rPr>
              <a:t>⚡  14:00</a:t>
            </a:r>
            <a:endParaRPr lang="en-US" sz="1200" dirty="0"/>
          </a:p>
        </p:txBody>
      </p:sp>
      <p:sp>
        <p:nvSpPr>
          <p:cNvPr id="16" name="Text 14"/>
          <p:cNvSpPr/>
          <p:nvPr/>
        </p:nvSpPr>
        <p:spPr>
          <a:xfrm>
            <a:off x="457200" y="3364992"/>
            <a:ext cx="3886200" cy="27432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Ejecución selectiva</a:t>
            </a:r>
            <a:endParaRPr lang="en-US" sz="1400" dirty="0"/>
          </a:p>
        </p:txBody>
      </p:sp>
      <p:sp>
        <p:nvSpPr>
          <p:cNvPr id="17" name="Text 15"/>
          <p:cNvSpPr/>
          <p:nvPr/>
        </p:nvSpPr>
        <p:spPr>
          <a:xfrm>
            <a:off x="457200" y="3666744"/>
            <a:ext cx="3886200" cy="91440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Solo si los 6 filtros están en verde.</a:t>
            </a:r>
            <a:endParaRPr lang="en-US" sz="1100" dirty="0"/>
          </a:p>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Umbral mínimo P &gt; 0.58 garantizado.</a:t>
            </a:r>
            <a:endParaRPr lang="en-US" sz="1100" dirty="0"/>
          </a:p>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Stop loss según ATR del día.</a:t>
            </a:r>
            <a:endParaRPr lang="en-US" sz="1100" dirty="0"/>
          </a:p>
        </p:txBody>
      </p:sp>
      <p:sp>
        <p:nvSpPr>
          <p:cNvPr id="18" name="Shape 16"/>
          <p:cNvSpPr/>
          <p:nvPr/>
        </p:nvSpPr>
        <p:spPr>
          <a:xfrm>
            <a:off x="4709160" y="2953512"/>
            <a:ext cx="4251960" cy="1737360"/>
          </a:xfrm>
          <a:prstGeom prst="rect">
            <a:avLst/>
          </a:prstGeom>
          <a:solidFill>
            <a:srgbClr val="131D2E"/>
          </a:solidFill>
          <a:ln w="12700">
            <a:solidFill>
              <a:srgbClr val="10B981"/>
            </a:solidFill>
            <a:prstDash val="solid"/>
          </a:ln>
          <a:effectLst>
            <a:outerShdw blurRad="76200" dist="38100" dir="8100000" algn="bl" rotWithShape="0">
              <a:srgbClr val="000000">
                <a:alpha val="28000"/>
              </a:srgbClr>
            </a:outerShdw>
          </a:effectLst>
        </p:spPr>
      </p:sp>
      <p:sp>
        <p:nvSpPr>
          <p:cNvPr id="19" name="Text 17"/>
          <p:cNvSpPr/>
          <p:nvPr/>
        </p:nvSpPr>
        <p:spPr>
          <a:xfrm>
            <a:off x="4892040" y="3063240"/>
            <a:ext cx="3886200" cy="292608"/>
          </a:xfrm>
          <a:prstGeom prst="rect">
            <a:avLst/>
          </a:prstGeom>
          <a:noFill/>
        </p:spPr>
        <p:txBody>
          <a:bodyPr wrap="square" lIns="0" tIns="0" rIns="0" bIns="0" rtlCol="0" anchor="ctr"/>
          <a:lstStyle/>
          <a:p>
            <a:pPr marL="0" indent="0">
              <a:buNone/>
            </a:pPr>
            <a:r>
              <a:rPr lang="en-US" sz="1200" b="1" dirty="0">
                <a:solidFill>
                  <a:srgbClr val="10B981"/>
                </a:solidFill>
                <a:latin typeface="Calibri" panose="020F0502020204030204" pitchFamily="34" charset="0"/>
                <a:ea typeface="Calibri" panose="020F0502020204030204" pitchFamily="34" charset="-122"/>
                <a:cs typeface="Calibri" panose="020F0502020204030204" pitchFamily="34" charset="-120"/>
              </a:rPr>
              <a:t>📋  20:00</a:t>
            </a:r>
            <a:endParaRPr lang="en-US" sz="1200" dirty="0"/>
          </a:p>
        </p:txBody>
      </p:sp>
      <p:sp>
        <p:nvSpPr>
          <p:cNvPr id="20" name="Text 18"/>
          <p:cNvSpPr/>
          <p:nvPr/>
        </p:nvSpPr>
        <p:spPr>
          <a:xfrm>
            <a:off x="4892040" y="3364992"/>
            <a:ext cx="3886200" cy="27432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Revisión de cierre</a:t>
            </a:r>
            <a:endParaRPr lang="en-US" sz="1400" dirty="0"/>
          </a:p>
        </p:txBody>
      </p:sp>
      <p:sp>
        <p:nvSpPr>
          <p:cNvPr id="21" name="Text 19"/>
          <p:cNvSpPr/>
          <p:nvPr/>
        </p:nvSpPr>
        <p:spPr>
          <a:xfrm>
            <a:off x="4892040" y="3666744"/>
            <a:ext cx="3886200" cy="91440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El sistema registra el outcome.</a:t>
            </a:r>
            <a:endParaRPr lang="en-US" sz="1100" dirty="0"/>
          </a:p>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Actualiza historial de señales.</a:t>
            </a:r>
            <a:endParaRPr lang="en-US" sz="1100" dirty="0"/>
          </a:p>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El trader evalúa calidad vs cantidad.</a:t>
            </a:r>
            <a:endParaRPr lang="en-US" sz="1100" dirty="0"/>
          </a:p>
        </p:txBody>
      </p:sp>
      <p:sp>
        <p:nvSpPr>
          <p:cNvPr id="22" name="Shape 20"/>
          <p:cNvSpPr/>
          <p:nvPr/>
        </p:nvSpPr>
        <p:spPr>
          <a:xfrm>
            <a:off x="274320" y="4663440"/>
            <a:ext cx="8641080" cy="292608"/>
          </a:xfrm>
          <a:prstGeom prst="rect">
            <a:avLst/>
          </a:prstGeom>
          <a:solidFill>
            <a:srgbClr val="131D2E"/>
          </a:solidFill>
          <a:ln w="12700">
            <a:solidFill>
              <a:srgbClr val="10B981"/>
            </a:solidFill>
            <a:prstDash val="solid"/>
          </a:ln>
        </p:spPr>
      </p:sp>
      <p:sp>
        <p:nvSpPr>
          <p:cNvPr id="23" name="Text 21"/>
          <p:cNvSpPr/>
          <p:nvPr/>
        </p:nvSpPr>
        <p:spPr>
          <a:xfrm>
            <a:off x="365760" y="4681728"/>
            <a:ext cx="8412480" cy="256032"/>
          </a:xfrm>
          <a:prstGeom prst="rect">
            <a:avLst/>
          </a:prstGeom>
          <a:noFill/>
        </p:spPr>
        <p:txBody>
          <a:bodyPr wrap="square" lIns="0" tIns="0" rIns="0" bIns="0" rtlCol="0" anchor="ctr"/>
          <a:lstStyle/>
          <a:p>
            <a:pPr marL="0" indent="0" algn="ctr">
              <a:buNone/>
            </a:pPr>
            <a:r>
              <a:rPr lang="en-US" sz="1150" dirty="0">
                <a:solidFill>
                  <a:srgbClr val="10B981"/>
                </a:solidFill>
                <a:latin typeface="Calibri" panose="020F0502020204030204" pitchFamily="34" charset="0"/>
                <a:ea typeface="Calibri" panose="020F0502020204030204" pitchFamily="34" charset="-122"/>
                <a:cs typeface="Calibri" panose="020F0502020204030204" pitchFamily="34" charset="-120"/>
              </a:rPr>
              <a:t>Impacto cuantificado:   −85% operaciones  ·  +10pp Win Rate  ·  Drawdown controlado  ·  Menos tiempo en pantalla</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 cy="5143500"/>
          </a:xfrm>
          <a:prstGeom prst="rect">
            <a:avLst/>
          </a:prstGeom>
          <a:solidFill>
            <a:srgbClr val="F59E0B"/>
          </a:solidFill>
          <a:ln w="12700">
            <a:solidFill>
              <a:srgbClr val="F59E0B"/>
            </a:solidFill>
            <a:prstDash val="solid"/>
          </a:ln>
        </p:spPr>
      </p:sp>
      <p:sp>
        <p:nvSpPr>
          <p:cNvPr id="3" name="Shape 1"/>
          <p:cNvSpPr/>
          <p:nvPr/>
        </p:nvSpPr>
        <p:spPr>
          <a:xfrm>
            <a:off x="50292" y="0"/>
            <a:ext cx="9093708" cy="960120"/>
          </a:xfrm>
          <a:prstGeom prst="rect">
            <a:avLst/>
          </a:prstGeom>
          <a:solidFill>
            <a:srgbClr val="0D2137"/>
          </a:solidFill>
          <a:ln w="12700">
            <a:solidFill>
              <a:srgbClr val="0D2137"/>
            </a:solidFill>
            <a:prstDash val="solid"/>
          </a:ln>
        </p:spPr>
      </p:sp>
      <p:sp>
        <p:nvSpPr>
          <p:cNvPr id="4" name="Text 2"/>
          <p:cNvSpPr/>
          <p:nvPr/>
        </p:nvSpPr>
        <p:spPr>
          <a:xfrm>
            <a:off x="274320" y="164592"/>
            <a:ext cx="8595360" cy="530352"/>
          </a:xfrm>
          <a:prstGeom prst="rect">
            <a:avLst/>
          </a:prstGeom>
          <a:noFill/>
        </p:spPr>
        <p:txBody>
          <a:bodyPr wrap="square" lIns="0" tIns="0" rIns="0" bIns="0"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Limitaciones Honestas y Próximos Pasos</a:t>
            </a:r>
            <a:endParaRPr lang="en-US" sz="2600" dirty="0"/>
          </a:p>
        </p:txBody>
      </p:sp>
      <p:sp>
        <p:nvSpPr>
          <p:cNvPr id="5" name="Text 3"/>
          <p:cNvSpPr/>
          <p:nvPr/>
        </p:nvSpPr>
        <p:spPr>
          <a:xfrm>
            <a:off x="274320" y="685800"/>
            <a:ext cx="8595360" cy="274320"/>
          </a:xfrm>
          <a:prstGeom prst="rect">
            <a:avLst/>
          </a:prstGeom>
          <a:noFill/>
        </p:spPr>
        <p:txBody>
          <a:bodyPr wrap="square" lIns="0" tIns="0" rIns="0" bIns="0" rtlCol="0" anchor="ctr"/>
          <a:lstStyle/>
          <a:p>
            <a:pPr marL="0" indent="0">
              <a:buNone/>
            </a:pPr>
            <a:r>
              <a:rPr lang="en-US" sz="1200" i="1" dirty="0">
                <a:solidFill>
                  <a:srgbClr val="F59E0B"/>
                </a:solidFill>
                <a:latin typeface="Calibri" panose="020F0502020204030204" pitchFamily="34" charset="0"/>
                <a:ea typeface="Calibri" panose="020F0502020204030204" pitchFamily="34" charset="-122"/>
                <a:cs typeface="Calibri" panose="020F0502020204030204" pitchFamily="34" charset="-120"/>
              </a:rPr>
              <a:t>La diferencia entre un proyecto académico y uno de producción está en lo que reconoces que falta</a:t>
            </a:r>
            <a:endParaRPr lang="en-US" sz="1200" dirty="0"/>
          </a:p>
        </p:txBody>
      </p:sp>
      <p:sp>
        <p:nvSpPr>
          <p:cNvPr id="6" name="Shape 4"/>
          <p:cNvSpPr/>
          <p:nvPr/>
        </p:nvSpPr>
        <p:spPr>
          <a:xfrm>
            <a:off x="274320" y="1024128"/>
            <a:ext cx="4114800" cy="3931920"/>
          </a:xfrm>
          <a:prstGeom prst="rect">
            <a:avLst/>
          </a:prstGeom>
          <a:solidFill>
            <a:srgbClr val="131D2E"/>
          </a:solidFill>
          <a:ln w="12700">
            <a:solidFill>
              <a:srgbClr val="EF4444"/>
            </a:solidFill>
            <a:prstDash val="solid"/>
          </a:ln>
          <a:effectLst>
            <a:outerShdw blurRad="76200" dist="38100" dir="8100000" algn="bl" rotWithShape="0">
              <a:srgbClr val="000000">
                <a:alpha val="28000"/>
              </a:srgbClr>
            </a:outerShdw>
          </a:effectLst>
        </p:spPr>
      </p:sp>
      <p:sp>
        <p:nvSpPr>
          <p:cNvPr id="7" name="Text 5"/>
          <p:cNvSpPr/>
          <p:nvPr/>
        </p:nvSpPr>
        <p:spPr>
          <a:xfrm>
            <a:off x="457200" y="1115568"/>
            <a:ext cx="3749040" cy="347472"/>
          </a:xfrm>
          <a:prstGeom prst="rect">
            <a:avLst/>
          </a:prstGeom>
          <a:noFill/>
        </p:spPr>
        <p:txBody>
          <a:bodyPr wrap="square" lIns="0" tIns="0" rIns="0" bIns="0" rtlCol="0" anchor="ctr"/>
          <a:lstStyle/>
          <a:p>
            <a:pPr marL="0" indent="0">
              <a:buNone/>
            </a:pPr>
            <a:r>
              <a:rPr lang="en-US" sz="1500" b="1" dirty="0">
                <a:solidFill>
                  <a:srgbClr val="EF4444"/>
                </a:solidFill>
                <a:latin typeface="Calibri" panose="020F0502020204030204" pitchFamily="34" charset="0"/>
                <a:ea typeface="Calibri" panose="020F0502020204030204" pitchFamily="34" charset="-122"/>
                <a:cs typeface="Calibri" panose="020F0502020204030204" pitchFamily="34" charset="-120"/>
              </a:rPr>
              <a:t>⚠️  Limitaciones actuales</a:t>
            </a:r>
            <a:endParaRPr lang="en-US" sz="1500" dirty="0"/>
          </a:p>
        </p:txBody>
      </p:sp>
      <p:sp>
        <p:nvSpPr>
          <p:cNvPr id="8" name="Text 6"/>
          <p:cNvSpPr/>
          <p:nvPr/>
        </p:nvSpPr>
        <p:spPr>
          <a:xfrm>
            <a:off x="457200" y="1572768"/>
            <a:ext cx="3749040" cy="256032"/>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Backtest ≠ Producción</a:t>
            </a:r>
            <a:endParaRPr lang="en-US" sz="1200" dirty="0"/>
          </a:p>
        </p:txBody>
      </p:sp>
      <p:sp>
        <p:nvSpPr>
          <p:cNvPr id="9" name="Text 7"/>
          <p:cNvSpPr/>
          <p:nvPr/>
        </p:nvSpPr>
        <p:spPr>
          <a:xfrm>
            <a:off x="457200" y="1828800"/>
            <a:ext cx="3749040" cy="457200"/>
          </a:xfrm>
          <a:prstGeom prst="rect">
            <a:avLst/>
          </a:prstGeom>
          <a:noFill/>
        </p:spPr>
        <p:txBody>
          <a:bodyPr wrap="square" lIns="0" tIns="0" rIns="0" bIns="0" rtlCol="0" anchor="ctr"/>
          <a:lstStyle/>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Los resultados históricos no garantizan</a:t>
            </a:r>
            <a:endParaRPr lang="en-US" sz="1050" dirty="0"/>
          </a:p>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resultados futuros. Necesita validación forward.</a:t>
            </a:r>
            <a:endParaRPr lang="en-US" sz="1050" dirty="0"/>
          </a:p>
        </p:txBody>
      </p:sp>
      <p:sp>
        <p:nvSpPr>
          <p:cNvPr id="10" name="Text 8"/>
          <p:cNvSpPr/>
          <p:nvPr/>
        </p:nvSpPr>
        <p:spPr>
          <a:xfrm>
            <a:off x="457200" y="2423160"/>
            <a:ext cx="3749040" cy="256032"/>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Sin datos de noticias</a:t>
            </a:r>
            <a:endParaRPr lang="en-US" sz="1200" dirty="0"/>
          </a:p>
        </p:txBody>
      </p:sp>
      <p:sp>
        <p:nvSpPr>
          <p:cNvPr id="11" name="Text 9"/>
          <p:cNvSpPr/>
          <p:nvPr/>
        </p:nvSpPr>
        <p:spPr>
          <a:xfrm>
            <a:off x="457200" y="2679192"/>
            <a:ext cx="3749040" cy="457200"/>
          </a:xfrm>
          <a:prstGeom prst="rect">
            <a:avLst/>
          </a:prstGeom>
          <a:noFill/>
        </p:spPr>
        <p:txBody>
          <a:bodyPr wrap="square" lIns="0" tIns="0" rIns="0" bIns="0" rtlCol="0" anchor="ctr"/>
          <a:lstStyle/>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FOMC, NFP, tensiones geopolíticas no</a:t>
            </a:r>
            <a:endParaRPr lang="en-US" sz="1050" dirty="0"/>
          </a:p>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están modelados. Son shocks no predecibles.</a:t>
            </a:r>
            <a:endParaRPr lang="en-US" sz="1050" dirty="0"/>
          </a:p>
        </p:txBody>
      </p:sp>
      <p:sp>
        <p:nvSpPr>
          <p:cNvPr id="12" name="Text 10"/>
          <p:cNvSpPr/>
          <p:nvPr/>
        </p:nvSpPr>
        <p:spPr>
          <a:xfrm>
            <a:off x="457200" y="3273552"/>
            <a:ext cx="3749040" cy="256032"/>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ROC-AUC estructuralmente bajo</a:t>
            </a:r>
            <a:endParaRPr lang="en-US" sz="1200" dirty="0"/>
          </a:p>
        </p:txBody>
      </p:sp>
      <p:sp>
        <p:nvSpPr>
          <p:cNvPr id="13" name="Text 11"/>
          <p:cNvSpPr/>
          <p:nvPr/>
        </p:nvSpPr>
        <p:spPr>
          <a:xfrm>
            <a:off x="457200" y="3529584"/>
            <a:ext cx="3749040" cy="457200"/>
          </a:xfrm>
          <a:prstGeom prst="rect">
            <a:avLst/>
          </a:prstGeom>
          <a:noFill/>
        </p:spPr>
        <p:txBody>
          <a:bodyPr wrap="square" lIns="0" tIns="0" rIns="0" bIns="0" rtlCol="0" anchor="ctr"/>
          <a:lstStyle/>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Los mercados son eficientes por naturaleza.</a:t>
            </a:r>
            <a:endParaRPr lang="en-US" sz="1050" dirty="0"/>
          </a:p>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Límite teórico alrededor de 0.55–0.58.</a:t>
            </a:r>
            <a:endParaRPr lang="en-US" sz="1050" dirty="0"/>
          </a:p>
        </p:txBody>
      </p:sp>
      <p:sp>
        <p:nvSpPr>
          <p:cNvPr id="14" name="Text 12"/>
          <p:cNvSpPr/>
          <p:nvPr/>
        </p:nvSpPr>
        <p:spPr>
          <a:xfrm>
            <a:off x="457200" y="4123944"/>
            <a:ext cx="3749040" cy="256032"/>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Clasificación vs Regresión</a:t>
            </a:r>
            <a:endParaRPr lang="en-US" sz="1200" dirty="0"/>
          </a:p>
        </p:txBody>
      </p:sp>
      <p:sp>
        <p:nvSpPr>
          <p:cNvPr id="15" name="Text 13"/>
          <p:cNvSpPr/>
          <p:nvPr/>
        </p:nvSpPr>
        <p:spPr>
          <a:xfrm>
            <a:off x="457200" y="4379976"/>
            <a:ext cx="3749040" cy="457200"/>
          </a:xfrm>
          <a:prstGeom prst="rect">
            <a:avLst/>
          </a:prstGeom>
          <a:noFill/>
        </p:spPr>
        <p:txBody>
          <a:bodyPr wrap="square" lIns="0" tIns="0" rIns="0" bIns="0" rtlCol="0" anchor="ctr"/>
          <a:lstStyle/>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Predecimos dirección, no magnitud.</a:t>
            </a:r>
            <a:endParaRPr lang="en-US" sz="1050" dirty="0"/>
          </a:p>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Un BUY de +0.1% y uno de +2% valen igual.</a:t>
            </a:r>
            <a:endParaRPr lang="en-US" sz="1050" dirty="0"/>
          </a:p>
        </p:txBody>
      </p:sp>
      <p:sp>
        <p:nvSpPr>
          <p:cNvPr id="16" name="Shape 14"/>
          <p:cNvSpPr/>
          <p:nvPr/>
        </p:nvSpPr>
        <p:spPr>
          <a:xfrm>
            <a:off x="4572000" y="1024128"/>
            <a:ext cx="4343400" cy="3931920"/>
          </a:xfrm>
          <a:prstGeom prst="rect">
            <a:avLst/>
          </a:prstGeom>
          <a:solidFill>
            <a:srgbClr val="131D2E"/>
          </a:solidFill>
          <a:ln w="12700">
            <a:solidFill>
              <a:srgbClr val="10B981"/>
            </a:solidFill>
            <a:prstDash val="solid"/>
          </a:ln>
          <a:effectLst>
            <a:outerShdw blurRad="76200" dist="38100" dir="8100000" algn="bl" rotWithShape="0">
              <a:srgbClr val="000000">
                <a:alpha val="28000"/>
              </a:srgbClr>
            </a:outerShdw>
          </a:effectLst>
        </p:spPr>
      </p:sp>
      <p:sp>
        <p:nvSpPr>
          <p:cNvPr id="17" name="Text 15"/>
          <p:cNvSpPr/>
          <p:nvPr/>
        </p:nvSpPr>
        <p:spPr>
          <a:xfrm>
            <a:off x="4754880" y="1115568"/>
            <a:ext cx="3977640" cy="347472"/>
          </a:xfrm>
          <a:prstGeom prst="rect">
            <a:avLst/>
          </a:prstGeom>
          <a:noFill/>
        </p:spPr>
        <p:txBody>
          <a:bodyPr wrap="square" lIns="0" tIns="0" rIns="0" bIns="0" rtlCol="0" anchor="ctr"/>
          <a:lstStyle/>
          <a:p>
            <a:pPr marL="0" indent="0">
              <a:buNone/>
            </a:pPr>
            <a:r>
              <a:rPr lang="en-US" sz="1500" b="1" dirty="0">
                <a:solidFill>
                  <a:srgbClr val="10B981"/>
                </a:solidFill>
                <a:latin typeface="Calibri" panose="020F0502020204030204" pitchFamily="34" charset="0"/>
                <a:ea typeface="Calibri" panose="020F0502020204030204" pitchFamily="34" charset="-122"/>
                <a:cs typeface="Calibri" panose="020F0502020204030204" pitchFamily="34" charset="-120"/>
              </a:rPr>
              <a:t>🚀  Próximos pasos</a:t>
            </a:r>
            <a:endParaRPr lang="en-US" sz="1500" dirty="0"/>
          </a:p>
        </p:txBody>
      </p:sp>
      <p:sp>
        <p:nvSpPr>
          <p:cNvPr id="18" name="Shape 16"/>
          <p:cNvSpPr/>
          <p:nvPr/>
        </p:nvSpPr>
        <p:spPr>
          <a:xfrm>
            <a:off x="4572000" y="1527048"/>
            <a:ext cx="274320" cy="274320"/>
          </a:xfrm>
          <a:prstGeom prst="rect">
            <a:avLst/>
          </a:prstGeom>
          <a:solidFill>
            <a:srgbClr val="10B981"/>
          </a:solidFill>
          <a:ln w="12700">
            <a:solidFill>
              <a:srgbClr val="10B981"/>
            </a:solidFill>
            <a:prstDash val="solid"/>
          </a:ln>
        </p:spPr>
      </p:sp>
      <p:sp>
        <p:nvSpPr>
          <p:cNvPr id="19" name="Text 17"/>
          <p:cNvSpPr/>
          <p:nvPr/>
        </p:nvSpPr>
        <p:spPr>
          <a:xfrm>
            <a:off x="4572000" y="1527048"/>
            <a:ext cx="274320" cy="274320"/>
          </a:xfrm>
          <a:prstGeom prst="rect">
            <a:avLst/>
          </a:prstGeom>
          <a:noFill/>
        </p:spPr>
        <p:txBody>
          <a:bodyPr wrap="square" lIns="0" tIns="0" rIns="0" bIns="0" rtlCol="0" anchor="ctr"/>
          <a:lstStyle/>
          <a:p>
            <a:pPr marL="0" indent="0" algn="ctr">
              <a:buNone/>
            </a:pPr>
            <a:r>
              <a:rPr lang="en-US" sz="1100" b="1" dirty="0">
                <a:solidFill>
                  <a:srgbClr val="0D1117"/>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20" name="Text 18"/>
          <p:cNvSpPr/>
          <p:nvPr/>
        </p:nvSpPr>
        <p:spPr>
          <a:xfrm>
            <a:off x="4956048" y="1572768"/>
            <a:ext cx="3794760" cy="256032"/>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Forward Testing (Paper Trading)</a:t>
            </a:r>
            <a:endParaRPr lang="en-US" sz="1200" dirty="0"/>
          </a:p>
        </p:txBody>
      </p:sp>
      <p:sp>
        <p:nvSpPr>
          <p:cNvPr id="21" name="Text 19"/>
          <p:cNvSpPr/>
          <p:nvPr/>
        </p:nvSpPr>
        <p:spPr>
          <a:xfrm>
            <a:off x="4956048" y="1828800"/>
            <a:ext cx="3794760" cy="457200"/>
          </a:xfrm>
          <a:prstGeom prst="rect">
            <a:avLst/>
          </a:prstGeom>
          <a:noFill/>
        </p:spPr>
        <p:txBody>
          <a:bodyPr wrap="square" lIns="0" tIns="0" rIns="0" bIns="0" rtlCol="0" anchor="ctr"/>
          <a:lstStyle/>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Validar en tiempo real con datos live</a:t>
            </a:r>
            <a:endParaRPr lang="en-US" sz="1050" dirty="0"/>
          </a:p>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sin arriesgar capital durante 3–6 meses.</a:t>
            </a:r>
            <a:endParaRPr lang="en-US" sz="1050" dirty="0"/>
          </a:p>
        </p:txBody>
      </p:sp>
      <p:sp>
        <p:nvSpPr>
          <p:cNvPr id="22" name="Shape 20"/>
          <p:cNvSpPr/>
          <p:nvPr/>
        </p:nvSpPr>
        <p:spPr>
          <a:xfrm>
            <a:off x="4572000" y="2377440"/>
            <a:ext cx="274320" cy="274320"/>
          </a:xfrm>
          <a:prstGeom prst="rect">
            <a:avLst/>
          </a:prstGeom>
          <a:solidFill>
            <a:srgbClr val="10B981"/>
          </a:solidFill>
          <a:ln w="12700">
            <a:solidFill>
              <a:srgbClr val="10B981"/>
            </a:solidFill>
            <a:prstDash val="solid"/>
          </a:ln>
        </p:spPr>
      </p:sp>
      <p:sp>
        <p:nvSpPr>
          <p:cNvPr id="23" name="Text 21"/>
          <p:cNvSpPr/>
          <p:nvPr/>
        </p:nvSpPr>
        <p:spPr>
          <a:xfrm>
            <a:off x="4572000" y="2377440"/>
            <a:ext cx="274320" cy="274320"/>
          </a:xfrm>
          <a:prstGeom prst="rect">
            <a:avLst/>
          </a:prstGeom>
          <a:noFill/>
        </p:spPr>
        <p:txBody>
          <a:bodyPr wrap="square" lIns="0" tIns="0" rIns="0" bIns="0" rtlCol="0" anchor="ctr"/>
          <a:lstStyle/>
          <a:p>
            <a:pPr marL="0" indent="0" algn="ctr">
              <a:buNone/>
            </a:pPr>
            <a:r>
              <a:rPr lang="en-US" sz="1100" b="1" dirty="0">
                <a:solidFill>
                  <a:srgbClr val="0D1117"/>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24" name="Text 22"/>
          <p:cNvSpPr/>
          <p:nvPr/>
        </p:nvSpPr>
        <p:spPr>
          <a:xfrm>
            <a:off x="4956048" y="2423160"/>
            <a:ext cx="3794760" cy="256032"/>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Predecir retorno, no dirección</a:t>
            </a:r>
            <a:endParaRPr lang="en-US" sz="1200" dirty="0"/>
          </a:p>
        </p:txBody>
      </p:sp>
      <p:sp>
        <p:nvSpPr>
          <p:cNvPr id="25" name="Text 23"/>
          <p:cNvSpPr/>
          <p:nvPr/>
        </p:nvSpPr>
        <p:spPr>
          <a:xfrm>
            <a:off x="4956048" y="2679192"/>
            <a:ext cx="3794760" cy="457200"/>
          </a:xfrm>
          <a:prstGeom prst="rect">
            <a:avLst/>
          </a:prstGeom>
          <a:noFill/>
        </p:spPr>
        <p:txBody>
          <a:bodyPr wrap="square" lIns="0" tIns="0" rIns="0" bIns="0" rtlCol="0" anchor="ctr"/>
          <a:lstStyle/>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Regresión sobre log-return esperado.</a:t>
            </a:r>
            <a:endParaRPr lang="en-US" sz="1050" dirty="0"/>
          </a:p>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Permite dimensionar posición según magnitud.</a:t>
            </a:r>
            <a:endParaRPr lang="en-US" sz="1050" dirty="0"/>
          </a:p>
        </p:txBody>
      </p:sp>
      <p:sp>
        <p:nvSpPr>
          <p:cNvPr id="26" name="Shape 24"/>
          <p:cNvSpPr/>
          <p:nvPr/>
        </p:nvSpPr>
        <p:spPr>
          <a:xfrm>
            <a:off x="4572000" y="3227832"/>
            <a:ext cx="274320" cy="274320"/>
          </a:xfrm>
          <a:prstGeom prst="rect">
            <a:avLst/>
          </a:prstGeom>
          <a:solidFill>
            <a:srgbClr val="10B981"/>
          </a:solidFill>
          <a:ln w="12700">
            <a:solidFill>
              <a:srgbClr val="10B981"/>
            </a:solidFill>
            <a:prstDash val="solid"/>
          </a:ln>
        </p:spPr>
      </p:sp>
      <p:sp>
        <p:nvSpPr>
          <p:cNvPr id="27" name="Text 25"/>
          <p:cNvSpPr/>
          <p:nvPr/>
        </p:nvSpPr>
        <p:spPr>
          <a:xfrm>
            <a:off x="4572000" y="3227832"/>
            <a:ext cx="274320" cy="274320"/>
          </a:xfrm>
          <a:prstGeom prst="rect">
            <a:avLst/>
          </a:prstGeom>
          <a:noFill/>
        </p:spPr>
        <p:txBody>
          <a:bodyPr wrap="square" lIns="0" tIns="0" rIns="0" bIns="0" rtlCol="0" anchor="ctr"/>
          <a:lstStyle/>
          <a:p>
            <a:pPr marL="0" indent="0" algn="ctr">
              <a:buNone/>
            </a:pPr>
            <a:r>
              <a:rPr lang="en-US" sz="1100" b="1" dirty="0">
                <a:solidFill>
                  <a:srgbClr val="0D1117"/>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28" name="Text 26"/>
          <p:cNvSpPr/>
          <p:nvPr/>
        </p:nvSpPr>
        <p:spPr>
          <a:xfrm>
            <a:off x="4956048" y="3273552"/>
            <a:ext cx="3794760" cy="256032"/>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Integración con MetaTrader 5</a:t>
            </a:r>
            <a:endParaRPr lang="en-US" sz="1200" dirty="0"/>
          </a:p>
        </p:txBody>
      </p:sp>
      <p:sp>
        <p:nvSpPr>
          <p:cNvPr id="29" name="Text 27"/>
          <p:cNvSpPr/>
          <p:nvPr/>
        </p:nvSpPr>
        <p:spPr>
          <a:xfrm>
            <a:off x="4956048" y="3529584"/>
            <a:ext cx="3794760" cy="457200"/>
          </a:xfrm>
          <a:prstGeom prst="rect">
            <a:avLst/>
          </a:prstGeom>
          <a:noFill/>
        </p:spPr>
        <p:txBody>
          <a:bodyPr wrap="square" lIns="0" tIns="0" rIns="0" bIns="0" rtlCol="0" anchor="ctr"/>
          <a:lstStyle/>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API Python-MT5 ya disponible.</a:t>
            </a:r>
            <a:endParaRPr lang="en-US" sz="1050" dirty="0"/>
          </a:p>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Ejecución automática con scheduler de velas.</a:t>
            </a:r>
            <a:endParaRPr lang="en-US" sz="1050" dirty="0"/>
          </a:p>
        </p:txBody>
      </p:sp>
      <p:sp>
        <p:nvSpPr>
          <p:cNvPr id="30" name="Shape 28"/>
          <p:cNvSpPr/>
          <p:nvPr/>
        </p:nvSpPr>
        <p:spPr>
          <a:xfrm>
            <a:off x="4572000" y="4078224"/>
            <a:ext cx="274320" cy="274320"/>
          </a:xfrm>
          <a:prstGeom prst="rect">
            <a:avLst/>
          </a:prstGeom>
          <a:solidFill>
            <a:srgbClr val="10B981"/>
          </a:solidFill>
          <a:ln w="12700">
            <a:solidFill>
              <a:srgbClr val="10B981"/>
            </a:solidFill>
            <a:prstDash val="solid"/>
          </a:ln>
        </p:spPr>
      </p:sp>
      <p:sp>
        <p:nvSpPr>
          <p:cNvPr id="31" name="Text 29"/>
          <p:cNvSpPr/>
          <p:nvPr/>
        </p:nvSpPr>
        <p:spPr>
          <a:xfrm>
            <a:off x="4572000" y="4078224"/>
            <a:ext cx="274320" cy="274320"/>
          </a:xfrm>
          <a:prstGeom prst="rect">
            <a:avLst/>
          </a:prstGeom>
          <a:noFill/>
        </p:spPr>
        <p:txBody>
          <a:bodyPr wrap="square" lIns="0" tIns="0" rIns="0" bIns="0" rtlCol="0" anchor="ctr"/>
          <a:lstStyle/>
          <a:p>
            <a:pPr marL="0" indent="0" algn="ctr">
              <a:buNone/>
            </a:pPr>
            <a:r>
              <a:rPr lang="en-US" sz="1100" b="1" dirty="0">
                <a:solidFill>
                  <a:srgbClr val="0D1117"/>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32" name="Text 30"/>
          <p:cNvSpPr/>
          <p:nvPr/>
        </p:nvSpPr>
        <p:spPr>
          <a:xfrm>
            <a:off x="4956048" y="4123944"/>
            <a:ext cx="3794760" cy="256032"/>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Añadir datos alternativos</a:t>
            </a:r>
            <a:endParaRPr lang="en-US" sz="1200" dirty="0"/>
          </a:p>
        </p:txBody>
      </p:sp>
      <p:sp>
        <p:nvSpPr>
          <p:cNvPr id="33" name="Text 31"/>
          <p:cNvSpPr/>
          <p:nvPr/>
        </p:nvSpPr>
        <p:spPr>
          <a:xfrm>
            <a:off x="4956048" y="4379976"/>
            <a:ext cx="3794760" cy="457200"/>
          </a:xfrm>
          <a:prstGeom prst="rect">
            <a:avLst/>
          </a:prstGeom>
          <a:noFill/>
        </p:spPr>
        <p:txBody>
          <a:bodyPr wrap="square" lIns="0" tIns="0" rIns="0" bIns="0" rtlCol="0" anchor="ctr"/>
          <a:lstStyle/>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Sentiment de noticias, COT report,</a:t>
            </a:r>
            <a:endParaRPr lang="en-US" sz="1050" dirty="0"/>
          </a:p>
          <a:p>
            <a:pPr marL="0" indent="0">
              <a:buNone/>
            </a:pPr>
            <a:r>
              <a:rPr lang="en-US" sz="1050" dirty="0">
                <a:solidFill>
                  <a:srgbClr val="94A3B8"/>
                </a:solidFill>
                <a:latin typeface="Calibri" panose="020F0502020204030204" pitchFamily="34" charset="0"/>
                <a:ea typeface="Calibri" panose="020F0502020204030204" pitchFamily="34" charset="-122"/>
                <a:cs typeface="Calibri" panose="020F0502020204030204" pitchFamily="34" charset="-120"/>
              </a:rPr>
              <a:t>flujos de ETFs de oro (GLD, IAU).</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6565</Words>
  <Application>WPS Presentation</Application>
  <PresentationFormat>On-screen Show (16:9)</PresentationFormat>
  <Paragraphs>460</Paragraphs>
  <Slides>17</Slides>
  <Notes>15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XAUUSD ML — Presentación Técnica</dc:title>
  <dc:creator>Alexsandro</dc:creator>
  <dc:subject>PptxGenJS Presentation</dc:subject>
  <cp:lastModifiedBy>alexs</cp:lastModifiedBy>
  <cp:revision>9</cp:revision>
  <dcterms:created xsi:type="dcterms:W3CDTF">2026-05-03T22:54:00Z</dcterms:created>
  <dcterms:modified xsi:type="dcterms:W3CDTF">2026-05-04T09:49:39Z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B03BAC313E614EA59D3EA8B551E5FA3D_12</vt:lpwstr>
  </property>
  <property fmtid="{D5CDD505-2E9C-101B-9397-08002B2CF9AE}" pid="3" name="KSOProductBuildVer">
    <vt:lpwstr>3082-12.1.0.25242</vt:lpwstr>
  </property>
</Properties>
</file>