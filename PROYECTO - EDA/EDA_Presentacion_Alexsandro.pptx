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Oro</c:v>
                </c:pt>
              </c:strCache>
            </c:strRef>
          </c:tx>
          <c:spPr>
            <a:ln w="31750" cap="flat" cmpd="sng" algn="ctr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 cmpd="sng" algn="ctr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2026</c:v>
                </c:pt>
              </c:numCache>
            </c:num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108</c:v>
                </c:pt>
                <c:pt idx="2">
                  <c:v>103</c:v>
                </c:pt>
                <c:pt idx="3">
                  <c:v>124</c:v>
                </c:pt>
                <c:pt idx="4">
                  <c:v>160</c:v>
                </c:pt>
                <c:pt idx="5">
                  <c:v>151</c:v>
                </c:pt>
                <c:pt idx="6">
                  <c:v>160</c:v>
                </c:pt>
                <c:pt idx="7">
                  <c:v>173</c:v>
                </c:pt>
                <c:pt idx="8">
                  <c:v>205</c:v>
                </c:pt>
                <c:pt idx="9">
                  <c:v>255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Plata</c:v>
                </c:pt>
              </c:strCache>
            </c:strRef>
          </c:tx>
          <c:spPr>
            <a:ln w="31750" cap="flat" cmpd="sng" algn="ctr">
              <a:solidFill>
                <a:srgbClr val="A8B2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8B2C0"/>
              </a:solidFill>
              <a:ln w="9525" cap="flat" cmpd="sng" algn="ctr">
                <a:solidFill>
                  <a:srgbClr val="A8B2C0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2026</c:v>
                </c:pt>
              </c:numCache>
            </c:num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</c:v>
                </c:pt>
                <c:pt idx="1">
                  <c:v>104</c:v>
                </c:pt>
                <c:pt idx="2">
                  <c:v>82</c:v>
                </c:pt>
                <c:pt idx="3">
                  <c:v>97</c:v>
                </c:pt>
                <c:pt idx="4">
                  <c:v>163</c:v>
                </c:pt>
                <c:pt idx="5">
                  <c:v>182</c:v>
                </c:pt>
                <c:pt idx="6">
                  <c:v>118</c:v>
                </c:pt>
                <c:pt idx="7">
                  <c:v>115</c:v>
                </c:pt>
                <c:pt idx="8">
                  <c:v>140</c:v>
                </c:pt>
                <c:pt idx="9">
                  <c:v>175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DXY</c:v>
                </c:pt>
              </c:strCache>
            </c:strRef>
          </c:tx>
          <c:spPr>
            <a:ln w="31750" cap="flat" cmpd="sng" algn="ctr">
              <a:solidFill>
                <a:srgbClr val="3B82F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B82F6"/>
              </a:solidFill>
              <a:ln w="9525" cap="flat" cmpd="sng" algn="ctr">
                <a:solidFill>
                  <a:srgbClr val="3B82F6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Sheet1!$A$2:$A$11</c:f>
              <c:numCache>
                <c:formatCode>General</c:formatCod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2026</c:v>
                </c:pt>
              </c:numCache>
            </c:num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100</c:v>
                </c:pt>
                <c:pt idx="1">
                  <c:v>101</c:v>
                </c:pt>
                <c:pt idx="2">
                  <c:v>102</c:v>
                </c:pt>
                <c:pt idx="3">
                  <c:v>97</c:v>
                </c:pt>
                <c:pt idx="4">
                  <c:v>92</c:v>
                </c:pt>
                <c:pt idx="5">
                  <c:v>90</c:v>
                </c:pt>
                <c:pt idx="6">
                  <c:v>105</c:v>
                </c:pt>
                <c:pt idx="7">
                  <c:v>101</c:v>
                </c:pt>
                <c:pt idx="8">
                  <c:v>104</c:v>
                </c:pt>
                <c:pt idx="9">
                  <c:v>99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8B949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8B949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 rot="0" spcFirstLastPara="0" vertOverflow="ellipsis" vert="horz" wrap="square" anchor="ctr" anchorCtr="1"/>
        <a:lstStyle/>
        <a:p>
          <a:pPr>
            <a:defRPr lang="es-ES" sz="900" b="0" i="0" u="none" strike="noStrike" kern="1200" baseline="0">
              <a:solidFill>
                <a:srgbClr val="F0F6FC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821ce11-d230-4f32-b38e-60d180ea63f0}"/>
      </c:ext>
    </c:extLst>
  </c:chart>
  <c:spPr>
    <a:solidFill>
      <a:srgbClr val="21262D"/>
    </a:solidFill>
    <a:ln>
      <a:noFill/>
    </a:ln>
    <a:effectLst/>
  </c:spPr>
  <c:txPr>
    <a:bodyPr/>
    <a:lstStyle/>
    <a:p>
      <a:pPr>
        <a:defRPr lang="es-E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Ratio G/S</c:v>
                </c:pt>
              </c:strCache>
            </c:strRef>
          </c:tx>
          <c:spPr>
            <a:ln w="25400" cap="flat" cmpd="sng" algn="ctr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 cmpd="sng" algn="ctr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</c:v>
                </c:pt>
              </c:numCache>
            </c:num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75</c:v>
                </c:pt>
                <c:pt idx="1">
                  <c:v>73</c:v>
                </c:pt>
                <c:pt idx="2">
                  <c:v>81</c:v>
                </c:pt>
                <c:pt idx="3">
                  <c:v>87</c:v>
                </c:pt>
                <c:pt idx="4">
                  <c:v>114</c:v>
                </c:pt>
                <c:pt idx="5">
                  <c:v>68</c:v>
                </c:pt>
                <c:pt idx="6">
                  <c:v>85</c:v>
                </c:pt>
                <c:pt idx="7">
                  <c:v>83</c:v>
                </c:pt>
                <c:pt idx="8">
                  <c:v>87</c:v>
                </c:pt>
                <c:pt idx="9">
                  <c:v>88</c:v>
                </c:pt>
                <c:pt idx="10">
                  <c:v>65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 (81)</c:v>
                </c:pt>
              </c:strCache>
            </c:strRef>
          </c:tx>
          <c:spPr>
            <a:ln w="25400" cap="flat" cmpd="sng" algn="ctr">
              <a:solidFill>
                <a:srgbClr val="55555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55555"/>
              </a:solidFill>
              <a:ln w="9525" cap="flat" cmpd="sng" algn="ctr">
                <a:solidFill>
                  <a:srgbClr val="555555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Sheet1!$A$2:$A$12</c:f>
              <c:numCache>
                <c:formatCode>General</c:formatCode>
                <c:ptCount val="11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  <c:pt idx="10">
                  <c:v>2026</c:v>
                </c:pt>
              </c:numCache>
            </c:num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81</c:v>
                </c:pt>
                <c:pt idx="1">
                  <c:v>81</c:v>
                </c:pt>
                <c:pt idx="2">
                  <c:v>81</c:v>
                </c:pt>
                <c:pt idx="3">
                  <c:v>81</c:v>
                </c:pt>
                <c:pt idx="4">
                  <c:v>81</c:v>
                </c:pt>
                <c:pt idx="5">
                  <c:v>81</c:v>
                </c:pt>
                <c:pt idx="6">
                  <c:v>81</c:v>
                </c:pt>
                <c:pt idx="7">
                  <c:v>81</c:v>
                </c:pt>
                <c:pt idx="8">
                  <c:v>81</c:v>
                </c:pt>
                <c:pt idx="9">
                  <c:v>81</c:v>
                </c:pt>
                <c:pt idx="10">
                  <c:v>81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8B949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2D33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8B949E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s-ES" sz="900" b="0" i="0" u="none" strike="noStrike" kern="1200" baseline="0">
              <a:solidFill>
                <a:srgbClr val="F0F6FC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fe25e548-2268-4aef-9b35-b3954b59f5f9}"/>
      </c:ext>
    </c:extLst>
  </c:chart>
  <c:spPr>
    <a:solidFill>
      <a:srgbClr val="21262D"/>
    </a:solidFill>
    <a:ln>
      <a:noFill/>
    </a:ln>
    <a:effectLst/>
  </c:spPr>
  <c:txPr>
    <a:bodyPr/>
    <a:lstStyle/>
    <a:p>
      <a:pPr>
        <a:defRPr lang="es-E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457200"/>
            <a:ext cx="731520" cy="73152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011680"/>
            <a:ext cx="731520" cy="73152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566160"/>
            <a:ext cx="731520" cy="7315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480" y="320040"/>
            <a:ext cx="5943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A017"/>
                </a:solidFill>
              </a:rPr>
              <a:t>DATA ANALYSIS BOOTCAMP · 202</a:t>
            </a:r>
            <a:r>
              <a:rPr lang="es-ES" altLang="en-US" sz="900" b="1" kern="0" spc="300" dirty="0">
                <a:solidFill>
                  <a:srgbClr val="D4A017"/>
                </a:solidFill>
              </a:rPr>
              <a:t>6</a:t>
            </a:r>
            <a:endParaRPr lang="es-ES" altLang="en-US" sz="900" b="1" kern="0" spc="300" dirty="0">
              <a:solidFill>
                <a:srgbClr val="D4A017"/>
              </a:solidFill>
            </a:endParaRPr>
          </a:p>
        </p:txBody>
      </p:sp>
      <p:sp>
        <p:nvSpPr>
          <p:cNvPr id="9" name="Text 4"/>
          <p:cNvSpPr/>
          <p:nvPr/>
        </p:nvSpPr>
        <p:spPr>
          <a:xfrm>
            <a:off x="411480" y="777240"/>
            <a:ext cx="5943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¿Puede el Dólar</a:t>
            </a:r>
            <a:endParaRPr lang="en-US" sz="4000" dirty="0"/>
          </a:p>
        </p:txBody>
      </p:sp>
      <p:sp>
        <p:nvSpPr>
          <p:cNvPr id="10" name="Text 5"/>
          <p:cNvSpPr/>
          <p:nvPr/>
        </p:nvSpPr>
        <p:spPr>
          <a:xfrm>
            <a:off x="411480" y="1508760"/>
            <a:ext cx="5943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0F6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Predecir el Precio</a:t>
            </a:r>
            <a:endParaRPr lang="en-US" sz="4000" dirty="0"/>
          </a:p>
        </p:txBody>
      </p:sp>
      <p:sp>
        <p:nvSpPr>
          <p:cNvPr id="11" name="Text 6"/>
          <p:cNvSpPr/>
          <p:nvPr/>
        </p:nvSpPr>
        <p:spPr>
          <a:xfrm>
            <a:off x="411480" y="2240280"/>
            <a:ext cx="5943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 Oro</a:t>
            </a:r>
            <a:r>
              <a:rPr lang="es-ES" altLang="en-US" sz="40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y Plata</a:t>
            </a:r>
            <a:r>
              <a:rPr lang="en-US" sz="4000" b="1" dirty="0">
                <a:solidFill>
                  <a:srgbClr val="D4A01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</a:t>
            </a:r>
            <a:endParaRPr lang="en-US" sz="4000" dirty="0"/>
          </a:p>
        </p:txBody>
      </p:sp>
      <p:sp>
        <p:nvSpPr>
          <p:cNvPr id="12" name="Text 7"/>
          <p:cNvSpPr/>
          <p:nvPr/>
        </p:nvSpPr>
        <p:spPr>
          <a:xfrm>
            <a:off x="411480" y="3154680"/>
            <a:ext cx="5943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B2C0"/>
                </a:solidFill>
              </a:rPr>
              <a:t>10 años de datos · Oro · Plata · Dólar Americano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11480" y="3977640"/>
            <a:ext cx="347472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502920" y="4041648"/>
            <a:ext cx="3291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C"/>
                </a:solidFill>
              </a:rPr>
              <a:t>Alexsandro Luiz Terol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Data Analysis · Análisis de Mercados Financieros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D4A017"/>
                </a:solidFill>
              </a:rPr>
              <a:t>¿DE QUÉ VA ESTO?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949E"/>
                </a:solidFill>
              </a:rPr>
              <a:t>La pregunta que intentamos responder: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960120"/>
          </a:xfrm>
          <a:prstGeom prst="rect">
            <a:avLst/>
          </a:prstGeom>
          <a:solidFill>
            <a:srgbClr val="21262D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89888"/>
            <a:ext cx="8138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0F6FC"/>
                </a:solidFill>
              </a:rPr>
              <a:t>Cuando el dólar sube o baja, ¿qué le pasa al oro y a la plata?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2514600"/>
            <a:ext cx="265176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514600"/>
            <a:ext cx="265176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697480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3364992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Oro (XAUUSD)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9768" y="3730752"/>
            <a:ext cx="2432304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El refugio de valor más conocido del mundo. La gente lo compra cuando tiene miedo.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2514600"/>
            <a:ext cx="265176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2514600"/>
            <a:ext cx="2651760" cy="54864"/>
          </a:xfrm>
          <a:prstGeom prst="rect">
            <a:avLst/>
          </a:prstGeom>
          <a:solidFill>
            <a:srgbClr val="A8B2C0"/>
          </a:solidFill>
          <a:ln w="12700">
            <a:solidFill>
              <a:srgbClr val="A8B2C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697480"/>
            <a:ext cx="594360" cy="5943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3364992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Plata (XAGUSD)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10128" y="3730752"/>
            <a:ext cx="2432304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Como el oro pero más volátil. También se usa en industria (electrónica, solar).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0760" y="2514600"/>
            <a:ext cx="2651760" cy="22860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2514600"/>
            <a:ext cx="26517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697480"/>
            <a:ext cx="594360" cy="5943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3364992"/>
            <a:ext cx="24688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DXY (Dólar)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190488" y="3730752"/>
            <a:ext cx="2432304" cy="9601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Índice que mide la fuerza del dólar americano frente a otras divisas del mundo.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D4A017"/>
                </a:solidFill>
              </a:rPr>
              <a:t>LOS DATOS DEL ANÁLISIS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6596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196596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4A017"/>
                </a:solidFill>
              </a:rPr>
              <a:t>10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" y="1664208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años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938528"/>
            <a:ext cx="1965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de histórico diario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2016 → 2026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68880" y="868680"/>
            <a:ext cx="196596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868680"/>
            <a:ext cx="1965960" cy="54864"/>
          </a:xfrm>
          <a:prstGeom prst="rect">
            <a:avLst/>
          </a:prstGeom>
          <a:solidFill>
            <a:srgbClr val="A8B2C0"/>
          </a:solidFill>
          <a:ln w="12700">
            <a:solidFill>
              <a:srgbClr val="A8B2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0584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A8B2C0"/>
                </a:solidFill>
              </a:rPr>
              <a:t>2.575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1664208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velas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1938528"/>
            <a:ext cx="1965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días de mercado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analizados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868680"/>
            <a:ext cx="196596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868680"/>
            <a:ext cx="1965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0584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17720" y="1664208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activos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938528"/>
            <a:ext cx="1965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Oro · Plata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Dólar (DXY)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868680"/>
            <a:ext cx="196596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66560" y="868680"/>
            <a:ext cx="1965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1005840"/>
            <a:ext cx="19659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</a:rPr>
              <a:t>100%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766560" y="1664208"/>
            <a:ext cx="1965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Python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1938528"/>
            <a:ext cx="1965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Pandas · Seaborn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8B949E"/>
                </a:solidFill>
              </a:rPr>
              <a:t>Matplotlib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788920"/>
            <a:ext cx="85039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852928"/>
            <a:ext cx="1828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</a:rPr>
              <a:t>📡  Fuente de datos: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315468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MetaTrader 5 / Yahoo Finance — Precios de cierre diarios de futuros de Oro (GC=F), Plata (SI=F) e Índice del Dólar (DX-Y.NYB)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3840480"/>
            <a:ext cx="8503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</a:rPr>
              <a:t>Evolución de los 3 activos (Base 100 = Enero 2016)</a:t>
            </a:r>
            <a:endParaRPr lang="en-US" sz="11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320040" y="4114800"/>
          <a:ext cx="8503920" cy="822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D4A017"/>
                </a:solidFill>
              </a:rPr>
              <a:t>H1 · La Relación Oro–Dólar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¿Qué significa esto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en lenguaje simple?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84048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</a:rPr>
              <a:t>Cuando el dólar se debilita...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</a:rPr>
              <a:t>...el oro tiende a subir.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</a:rPr>
              <a:t>¿Con qué frecuencia?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</a:rPr>
              <a:t>En 8 de cada 10 días que el dólar cae más de 0.3%, el oro sube.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00000"/>
                </a:solidFill>
              </a:rPr>
              <a:t> 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</a:rPr>
              <a:t>¿Es infalible?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</a:rPr>
              <a:t>No. El 22% de las veces el oro ignora al dólar (geopolítica, demanda de Asia...).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6052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91440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Correlación entre activos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280160"/>
            <a:ext cx="38404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(retornos diarios 2016–2026)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77724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0020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57800" y="1600200"/>
            <a:ext cx="77724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60020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</a:rPr>
              <a:t>DXY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600200"/>
            <a:ext cx="77724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60020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</a:rPr>
              <a:t>Oro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600200"/>
            <a:ext cx="77724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60020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</a:rPr>
              <a:t>Plata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77724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14884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</a:rPr>
              <a:t>DXY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2148840"/>
            <a:ext cx="777240" cy="530352"/>
          </a:xfrm>
          <a:prstGeom prst="rect">
            <a:avLst/>
          </a:prstGeom>
          <a:solidFill>
            <a:srgbClr val="1E5C3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14884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1.00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0760" y="2148840"/>
            <a:ext cx="777240" cy="530352"/>
          </a:xfrm>
          <a:prstGeom prst="rect">
            <a:avLst/>
          </a:prstGeom>
          <a:solidFill>
            <a:srgbClr val="7A1E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214884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080"/>
                </a:solidFill>
              </a:rPr>
              <a:t>-0.39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03720" y="2148840"/>
            <a:ext cx="777240" cy="530352"/>
          </a:xfrm>
          <a:prstGeom prst="rect">
            <a:avLst/>
          </a:prstGeom>
          <a:solidFill>
            <a:srgbClr val="5C2D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14884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080"/>
                </a:solidFill>
              </a:rPr>
              <a:t>-0.33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2788920"/>
            <a:ext cx="77724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78892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</a:rPr>
              <a:t>Oro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57800" y="2788920"/>
            <a:ext cx="777240" cy="530352"/>
          </a:xfrm>
          <a:prstGeom prst="rect">
            <a:avLst/>
          </a:prstGeom>
          <a:solidFill>
            <a:srgbClr val="7A1E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78892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080"/>
                </a:solidFill>
              </a:rPr>
              <a:t>-0.39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080760" y="2788920"/>
            <a:ext cx="777240" cy="530352"/>
          </a:xfrm>
          <a:prstGeom prst="rect">
            <a:avLst/>
          </a:prstGeom>
          <a:solidFill>
            <a:srgbClr val="1E5C3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78892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1.00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03720" y="2788920"/>
            <a:ext cx="777240" cy="530352"/>
          </a:xfrm>
          <a:prstGeom prst="rect">
            <a:avLst/>
          </a:prstGeom>
          <a:solidFill>
            <a:srgbClr val="3A5C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278892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0FF9A"/>
                </a:solidFill>
              </a:rPr>
              <a:t>0.77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54880" y="3429000"/>
            <a:ext cx="777240" cy="530352"/>
          </a:xfrm>
          <a:prstGeom prst="rect">
            <a:avLst/>
          </a:prstGeom>
          <a:solidFill>
            <a:srgbClr val="21262D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42900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6FC"/>
                </a:solidFill>
              </a:rPr>
              <a:t>Plata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57800" y="3429000"/>
            <a:ext cx="777240" cy="530352"/>
          </a:xfrm>
          <a:prstGeom prst="rect">
            <a:avLst/>
          </a:prstGeom>
          <a:solidFill>
            <a:srgbClr val="5C2D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342900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8080"/>
                </a:solidFill>
              </a:rPr>
              <a:t>-0.33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080760" y="3429000"/>
            <a:ext cx="777240" cy="530352"/>
          </a:xfrm>
          <a:prstGeom prst="rect">
            <a:avLst/>
          </a:prstGeom>
          <a:solidFill>
            <a:srgbClr val="3A5C1E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80760" y="342900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0FF9A"/>
                </a:solidFill>
              </a:rPr>
              <a:t>0.77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903720" y="3429000"/>
            <a:ext cx="777240" cy="530352"/>
          </a:xfrm>
          <a:prstGeom prst="rect">
            <a:avLst/>
          </a:prstGeom>
          <a:solidFill>
            <a:srgbClr val="1E5C3A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429000"/>
            <a:ext cx="7772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F6FC"/>
                </a:solidFill>
              </a:rPr>
              <a:t>1.00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63440" y="4251960"/>
            <a:ext cx="4160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🟢 Verde = se mueven juntos  |  🔴 Rojo = se mueven opuesto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4617720"/>
            <a:ext cx="3749040" cy="1371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ES" altLang="en-US" sz="2000" b="1" kern="0" spc="200" dirty="0">
                <a:solidFill>
                  <a:srgbClr val="D4A017"/>
                </a:solidFill>
              </a:rPr>
              <a:t>H</a:t>
            </a:r>
            <a:r>
              <a:rPr lang="en-US" sz="2000" b="1" kern="0" spc="200" dirty="0">
                <a:solidFill>
                  <a:srgbClr val="D4A017"/>
                </a:solidFill>
              </a:rPr>
              <a:t>2 · ¿Cuál es más arriesgado?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</a:rPr>
              <a:t>Volatilidad = cuánto se puede mover un activo en un día normal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9844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Dólar (DXY)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64592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Referencia base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37560" y="1444752"/>
            <a:ext cx="56692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41648" y="1444752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0.42%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041648" y="1810512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1× vs Dólar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0040" y="2286000"/>
            <a:ext cx="85039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1460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88720" y="239572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Oro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188720" y="274320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Más predecible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337560" y="2542032"/>
            <a:ext cx="141732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92040" y="2542032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</a:rPr>
              <a:t>1.04%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4892040" y="2907792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2.5× vs Dólar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20040" y="3383280"/>
            <a:ext cx="8503920" cy="960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548640" cy="5486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3493008"/>
            <a:ext cx="2011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</a:rPr>
              <a:t>Plata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88720" y="3840480"/>
            <a:ext cx="2011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Alto riesgo/recompensa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3337560" y="3639312"/>
            <a:ext cx="2834640" cy="502920"/>
          </a:xfrm>
          <a:prstGeom prst="rect">
            <a:avLst/>
          </a:prstGeom>
          <a:solidFill>
            <a:srgbClr val="A8B2C0"/>
          </a:solidFill>
          <a:ln w="12700">
            <a:solidFill>
              <a:srgbClr val="A8B2C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309360" y="3639312"/>
            <a:ext cx="10972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B2C0"/>
                </a:solidFill>
              </a:rPr>
              <a:t>2.10%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309360" y="4005072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5× vs Dólar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20040" y="4535424"/>
            <a:ext cx="8503920" cy="384048"/>
          </a:xfrm>
          <a:prstGeom prst="rect">
            <a:avLst/>
          </a:prstGeom>
          <a:solidFill>
            <a:srgbClr val="21262D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502920" y="4370832"/>
            <a:ext cx="8138160" cy="49377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0F6FC"/>
                </a:solidFill>
              </a:rPr>
              <a:t>💡  La plata se mueve 5 veces más que el dólar. Más ganancias posibles, pero también más pérdidas. El oro ofrece un equilibrio.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D4A017"/>
                </a:solidFill>
              </a:rPr>
              <a:t> </a:t>
            </a:r>
            <a:r>
              <a:rPr lang="es-ES" altLang="en-US" sz="2000" b="1" kern="0" spc="200" dirty="0">
                <a:solidFill>
                  <a:srgbClr val="D4A017"/>
                </a:solidFill>
              </a:rPr>
              <a:t>H</a:t>
            </a:r>
            <a:r>
              <a:rPr lang="en-US" sz="2000" b="1" kern="0" spc="200" dirty="0">
                <a:solidFill>
                  <a:srgbClr val="D4A017"/>
                </a:solidFill>
              </a:rPr>
              <a:t>3 · El Termómetro Oro/Plata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23317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¿Qué es el Ratio Oro/Plata?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84048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Cuántas onzas de plata necesitas para comprar una de oro.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Si el ratio sube → la plata está barata respecto al oro.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Si el ratio baja → la plata está cara.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</a:rPr>
              <a:t>Ejemplo real: en marzo 2020 (pandemia) el ratio llegó a 126 — necesitabas 126 oz de plata para comprar 1 de oro. Quien compró plata en ese momento multiplicó su inversión.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3291840"/>
            <a:ext cx="196596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333756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F6FC"/>
                </a:solidFill>
              </a:rPr>
              <a:t>80.9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3694176"/>
            <a:ext cx="19659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F6FC"/>
                </a:solidFill>
              </a:rPr>
              <a:t>Media histórica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3867912"/>
            <a:ext cx="19659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equilibrio normal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68880" y="3291840"/>
            <a:ext cx="196596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68880" y="333756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444"/>
                </a:solidFill>
              </a:rPr>
              <a:t>125.9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3694176"/>
            <a:ext cx="19659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F6FC"/>
                </a:solidFill>
              </a:rPr>
              <a:t>Máximo (Mar 2020)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68880" y="3867912"/>
            <a:ext cx="19659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pandemia — plata muy barata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4206240"/>
            <a:ext cx="196596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425196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</a:rPr>
              <a:t>44.1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" y="4608576"/>
            <a:ext cx="19659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F6FC"/>
                </a:solidFill>
              </a:rPr>
              <a:t>Mínimo (Ene 2026)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4782312"/>
            <a:ext cx="19659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plata cara vs oro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468880" y="4206240"/>
            <a:ext cx="1965960" cy="777240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68880" y="4251960"/>
            <a:ext cx="19659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</a:rPr>
              <a:t>~65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68880" y="4608576"/>
            <a:ext cx="196596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0F6FC"/>
                </a:solidFill>
              </a:rPr>
              <a:t>Valor actual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468880" y="4782312"/>
            <a:ext cx="19659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</a:rPr>
              <a:t>bajo la media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822960"/>
            <a:ext cx="4160520" cy="402336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914400"/>
            <a:ext cx="3840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</a:rPr>
              <a:t>Ratio Oro/Plata 2016–2026</a:t>
            </a:r>
            <a:endParaRPr lang="en-US" sz="120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4709160" y="1298448"/>
          <a:ext cx="40690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D4A017"/>
                </a:solidFill>
              </a:rPr>
              <a:t>RESUMEN · ¿Qué confirmamos?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64008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22960"/>
            <a:ext cx="640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</a:rPr>
              <a:t>H1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896112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El dólar y el oro se mueven al revés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Confirmado, pero no tan fuerte como esperábamos. Hay otros factores que mueven el oro.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63640" y="1005840"/>
            <a:ext cx="23774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63640" y="1005840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PARCIAL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47088"/>
            <a:ext cx="8503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847088"/>
            <a:ext cx="64008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47088"/>
            <a:ext cx="640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</a:rPr>
              <a:t>H2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51560" y="1920240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La plata es más volátil que el oro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304288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La plata se mueve 2× más que el oro cada día. Más riesgo, más oportunidad.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63640" y="2029968"/>
            <a:ext cx="23774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2029968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CONFIRMADA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871216"/>
            <a:ext cx="8503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71216"/>
            <a:ext cx="64008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871216"/>
            <a:ext cx="640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</a:rPr>
              <a:t>H3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2944368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El ratio Oro/Plata avisa oportunidades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328416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El ratio oscila entre 44 y 126. Cuando se aleja mucho de 81, tiende a volver.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0" y="3054096"/>
            <a:ext cx="23774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263640" y="3054096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✓ CONFIRMADA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895344"/>
            <a:ext cx="8503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95344"/>
            <a:ext cx="640080" cy="914400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895344"/>
            <a:ext cx="64008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017"/>
                </a:solidFill>
              </a:rPr>
              <a:t>H4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51560" y="3968496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Si el dólar cae, los metales suben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51560" y="4352544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</a:rPr>
              <a:t>El 78% de las veces funciona, pero no el 100%. Se necesitan más confirmaciones.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63640" y="4078224"/>
            <a:ext cx="237744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63640" y="4078224"/>
            <a:ext cx="2377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</a:rPr>
              <a:t>PARCIAL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D4A017"/>
                </a:solidFill>
              </a:rPr>
              <a:t>¿FUNCIONA EN LA PRÁCTICA?  Simulación con $500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</a:rPr>
              <a:t>Probamos las reglas sobre 10 años de datos reales sin intervención humana: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1148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A8B2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4114800" cy="54864"/>
          </a:xfrm>
          <a:prstGeom prst="rect">
            <a:avLst/>
          </a:prstGeom>
          <a:solidFill>
            <a:srgbClr val="A8B2C0"/>
          </a:solidFill>
          <a:ln w="12700">
            <a:solidFill>
              <a:srgbClr val="A8B2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B2C0"/>
                </a:solidFill>
              </a:rPr>
              <a:t>Versión 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627632"/>
            <a:ext cx="3794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Sistema inicial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993392"/>
            <a:ext cx="3895344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2039112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Capital final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2039112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A8B2C0"/>
                </a:solidFill>
              </a:rPr>
              <a:t>$691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" y="2468880"/>
            <a:ext cx="3895344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514600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Retorno total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06040" y="2514600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</a:rPr>
              <a:t>+38.1%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" y="2944368"/>
            <a:ext cx="3895344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990088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Sharpe Ratio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06040" y="2990088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7316"/>
                </a:solidFill>
              </a:rPr>
              <a:t>0.86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" y="3419856"/>
            <a:ext cx="3895344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465576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Caída máxima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3465576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</a:rPr>
              <a:t>-16.0%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" y="3895344"/>
            <a:ext cx="3895344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941064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Acierto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3941064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F6FC"/>
                </a:solidFill>
              </a:rPr>
              <a:t>39.7%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29768" y="4370832"/>
            <a:ext cx="3895344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4416552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Factor ganancia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06040" y="4416552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97316"/>
                </a:solidFill>
              </a:rPr>
              <a:t>1.27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188720"/>
            <a:ext cx="41148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188720"/>
            <a:ext cx="41148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261872"/>
            <a:ext cx="32004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</a:rPr>
              <a:t>Versión 2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892040" y="1627632"/>
            <a:ext cx="3794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</a:rPr>
              <a:t>✅ Optimizado — señal B eliminada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64608" y="1993392"/>
            <a:ext cx="3895344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039112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Capital final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040880" y="2039112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D4A017"/>
                </a:solidFill>
              </a:rPr>
              <a:t>$772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64608" y="2468880"/>
            <a:ext cx="3895344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56048" y="2514600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Retorno total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040880" y="2514600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</a:rPr>
              <a:t>+54.4%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64608" y="2944368"/>
            <a:ext cx="3895344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56048" y="2990088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Sharpe Ratio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40880" y="2990088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</a:rPr>
              <a:t>2.04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64608" y="3419856"/>
            <a:ext cx="3895344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3465576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Caída máxima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040880" y="3465576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</a:rPr>
              <a:t>-10.1%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64608" y="3895344"/>
            <a:ext cx="3895344" cy="420624"/>
          </a:xfrm>
          <a:prstGeom prst="rect">
            <a:avLst/>
          </a:prstGeom>
          <a:solidFill>
            <a:srgbClr val="21262D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3941064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Acierto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040880" y="3941064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0F6FC"/>
                </a:solidFill>
              </a:rPr>
              <a:t>46.8%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864608" y="4370832"/>
            <a:ext cx="3895344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4416552"/>
            <a:ext cx="210312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</a:rPr>
              <a:t>Factor ganancia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040880" y="4416552"/>
            <a:ext cx="1600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2C55E"/>
                </a:solidFill>
              </a:rPr>
              <a:t>1.72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D4A017"/>
                </a:solidFill>
              </a:rPr>
              <a:t>¿QUÉ SIGNIFICAN ESOS NÚMEROS?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6974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69748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00584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1664208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A017"/>
                </a:solidFill>
              </a:rPr>
              <a:t>Sharpe Ratio: 2.04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2148840"/>
            <a:ext cx="2514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¿Gana bien comparado con el riesgo que toma?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2423160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2871216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&lt; 1.0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127248"/>
            <a:ext cx="2331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450"/>
                </a:solidFill>
              </a:rPr>
              <a:t>Mediocre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3493008"/>
            <a:ext cx="2423160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3529584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1.0 – 2.0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3785616"/>
            <a:ext cx="2331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450"/>
                </a:solidFill>
              </a:rPr>
              <a:t>Bueno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4151376"/>
            <a:ext cx="242316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02920" y="4187952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&gt; 2.0 ✓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4443984"/>
            <a:ext cx="2331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6FC"/>
                </a:solidFill>
              </a:rPr>
              <a:t>Excelente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00400" y="822960"/>
            <a:ext cx="26974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00400" y="822960"/>
            <a:ext cx="269748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005840"/>
            <a:ext cx="594360" cy="5943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291840" y="1664208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</a:rPr>
              <a:t>Caída máxima: -10.1%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291840" y="2148840"/>
            <a:ext cx="2514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Lo máximo que perdiste antes de recuperarte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337560" y="2834640"/>
            <a:ext cx="2423160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383280" y="2871216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&gt; 30%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383280" y="3127248"/>
            <a:ext cx="2331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450"/>
                </a:solidFill>
              </a:rPr>
              <a:t>Peligroso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3337560" y="3493008"/>
            <a:ext cx="2423160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383280" y="3529584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15–30%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3383280" y="3785616"/>
            <a:ext cx="2331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450"/>
                </a:solidFill>
              </a:rPr>
              <a:t>Aceptable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3337560" y="4151376"/>
            <a:ext cx="242316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3383280" y="4187952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&lt; 15% ✓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3383280" y="4443984"/>
            <a:ext cx="2331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6FC"/>
                </a:solidFill>
              </a:rPr>
              <a:t>Controlado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080760" y="822960"/>
            <a:ext cx="269748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6080760" y="822960"/>
            <a:ext cx="269748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005840"/>
            <a:ext cx="594360" cy="5943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172200" y="1664208"/>
            <a:ext cx="2514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</a:rPr>
              <a:t>Factor Ganancia: 1.72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172200" y="2148840"/>
            <a:ext cx="2514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</a:rPr>
              <a:t>Por cada €1 que pierdes, ganas €1.72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217920" y="2834640"/>
            <a:ext cx="2423160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263640" y="2871216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&lt; 1.0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6263640" y="3127248"/>
            <a:ext cx="2331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450"/>
                </a:solidFill>
              </a:rPr>
              <a:t>Pierde dinero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6217920" y="3493008"/>
            <a:ext cx="2423160" cy="566928"/>
          </a:xfrm>
          <a:prstGeom prst="rect">
            <a:avLst/>
          </a:prstGeom>
          <a:solidFill>
            <a:srgbClr val="0D1117"/>
          </a:solidFill>
          <a:ln w="12700">
            <a:solidFill>
              <a:srgbClr val="2D333B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263640" y="3529584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</a:rPr>
              <a:t>1.0–1.5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6263640" y="3785616"/>
            <a:ext cx="2331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4450"/>
                </a:solidFill>
              </a:rPr>
              <a:t>Marginal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6217920" y="4151376"/>
            <a:ext cx="2423160" cy="566928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39"/>
          <p:cNvSpPr/>
          <p:nvPr/>
        </p:nvSpPr>
        <p:spPr>
          <a:xfrm>
            <a:off x="6263640" y="4187952"/>
            <a:ext cx="23317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&gt; 1.5 ✓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6263640" y="4443984"/>
            <a:ext cx="233172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0F6FC"/>
                </a:solidFill>
              </a:rPr>
              <a:t>Rentable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D4A017"/>
                </a:solidFill>
              </a:rPr>
              <a:t>¿A DÓNDE VA ESTE PROYECTO?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41248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896112"/>
            <a:ext cx="7589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Construir una IA que opere automáticamente basándose en estos hallazgos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1600200"/>
            <a:ext cx="8503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0040" y="1600200"/>
            <a:ext cx="594360" cy="7315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600200"/>
            <a:ext cx="594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1664208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Backtesting 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198424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Probamos las reglas sobre 10 años de datos históricos reales. Resultado: +54% en 10 años con Sharpe 2.04.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75120" y="1755648"/>
            <a:ext cx="201168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175564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COMPLETADO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" y="2423160"/>
            <a:ext cx="850392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" y="2423160"/>
            <a:ext cx="594360" cy="7315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423160"/>
            <a:ext cx="594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02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05840" y="2487168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</a:rPr>
              <a:t>Machine Learning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280720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</a:rPr>
              <a:t>Una IA analiza 62 operaciones pasadas y aprende qué condiciones predicen una operación ganadora vs perdedora.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675120" y="2578608"/>
            <a:ext cx="201168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75120" y="257860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</a:rPr>
              <a:t>PRÓXIMO PASO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0040" y="3246120"/>
            <a:ext cx="8503920" cy="7315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0040" y="3246120"/>
            <a:ext cx="59436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" y="3246120"/>
            <a:ext cx="594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05840" y="3310128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</a:rPr>
              <a:t>Paper Trading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05840" y="363016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450"/>
                </a:solidFill>
              </a:rPr>
              <a:t>El sistema opera en tiempo real sin dinero real durante 3–6 meses para validar que funciona con datos nuevos.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675120" y="3401568"/>
            <a:ext cx="201168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675120" y="340156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</a:rPr>
              <a:t>FASE 3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20040" y="4069080"/>
            <a:ext cx="8503920" cy="7315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253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0040" y="4069080"/>
            <a:ext cx="594360" cy="731520"/>
          </a:xfrm>
          <a:prstGeom prst="rect">
            <a:avLst/>
          </a:prstGeom>
          <a:solidFill>
            <a:srgbClr val="A8B2C0"/>
          </a:solidFill>
          <a:ln w="12700">
            <a:solidFill>
              <a:srgbClr val="A8B2C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4069080"/>
            <a:ext cx="59436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</a:rPr>
              <a:t>04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005840" y="4133088"/>
            <a:ext cx="2286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</a:rPr>
              <a:t>Trading en Vivo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05840" y="44531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4450"/>
                </a:solidFill>
              </a:rPr>
              <a:t>Despliegue con capital real y gestión de riesgo estricta: máximo 2% del capital por operación.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675120" y="4224528"/>
            <a:ext cx="2011680" cy="411480"/>
          </a:xfrm>
          <a:prstGeom prst="rect">
            <a:avLst/>
          </a:prstGeom>
          <a:solidFill>
            <a:srgbClr val="21262D"/>
          </a:solidFill>
          <a:ln w="12700">
            <a:solidFill>
              <a:srgbClr val="A8B2C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4224528"/>
            <a:ext cx="20116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B2C0"/>
                </a:solidFill>
              </a:rPr>
              <a:t>OBJETIVO FINAL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p>
            <a:endParaRPr lang="es-ES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50292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D4A017"/>
                </a:solidFill>
              </a:rPr>
              <a:t>Conclusión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143000"/>
            <a:ext cx="731520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F6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análisis de datos puede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0F6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convertir el ruido del mercado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0F6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 señales accionables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05840" y="2834640"/>
            <a:ext cx="22402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907792"/>
            <a:ext cx="2240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A017"/>
                </a:solidFill>
              </a:rPr>
              <a:t>2.04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5840" y="3493008"/>
            <a:ext cx="2240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Sharpe Ratio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785616"/>
            <a:ext cx="2240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</a:rPr>
              <a:t>calidad institucional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66160" y="2834640"/>
            <a:ext cx="22402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2907792"/>
            <a:ext cx="2240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C55E"/>
                </a:solidFill>
              </a:rPr>
              <a:t>+54%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66160" y="3493008"/>
            <a:ext cx="2240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Retorno 10 años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785616"/>
            <a:ext cx="2240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</a:rPr>
              <a:t>$500 → $772 reales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26480" y="2834640"/>
            <a:ext cx="2240280" cy="1371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2907792"/>
            <a:ext cx="22402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B82F6"/>
                </a:solidFill>
              </a:rPr>
              <a:t>-10%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126480" y="3493008"/>
            <a:ext cx="224028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</a:rPr>
              <a:t>Caída máxima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785616"/>
            <a:ext cx="22402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</a:rPr>
              <a:t>riesgo controlado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Alexsandro Luiz Terol  ·  Data Analysis Bootcamp  ·  202</a:t>
            </a:r>
            <a:r>
              <a:rPr lang="es-ES" altLang="en-US" sz="900" dirty="0">
                <a:solidFill>
                  <a:srgbClr val="8B949E"/>
                </a:solidFill>
              </a:rPr>
              <a:t>6</a:t>
            </a:r>
            <a:endParaRPr lang="es-ES" altLang="en-US" sz="900" dirty="0">
              <a:solidFill>
                <a:srgbClr val="8B949E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4445</Words>
  <Application>WPS Presentation</Application>
  <PresentationFormat>On-screen Show (16:9)</PresentationFormat>
  <Paragraphs>390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¿Puede el Dólar Predecir el Precio del Oro?</dc:title>
  <dc:creator>Alexsandro Luiz Terol</dc:creator>
  <dc:subject>PptxGenJS Presentation</dc:subject>
  <cp:lastModifiedBy>alexs</cp:lastModifiedBy>
  <cp:revision>7</cp:revision>
  <dcterms:created xsi:type="dcterms:W3CDTF">2026-04-09T18:20:00Z</dcterms:created>
  <dcterms:modified xsi:type="dcterms:W3CDTF">2026-04-13T11:21:12Z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A801F0DA1EAF478DB052ACA2923094E7_12</vt:lpwstr>
  </property>
  <property fmtid="{D5CDD505-2E9C-101B-9397-08002B2CF9AE}" pid="3" name="KSOProductBuildVer">
    <vt:lpwstr>3082-12.2.0.23196</vt:lpwstr>
  </property>
</Properties>
</file>