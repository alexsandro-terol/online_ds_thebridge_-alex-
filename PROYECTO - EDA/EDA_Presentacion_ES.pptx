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Ratio O/P</c:v>
                </c:pt>
              </c:strCache>
            </c:strRef>
          </c:tx>
          <c:spPr>
            <a:solidFill>
              <a:srgbClr val="D4A017"/>
            </a:solidFill>
            <a:ln w="2794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75</c:v>
                </c:pt>
                <c:pt idx="1">
                  <c:v>73</c:v>
                </c:pt>
                <c:pt idx="2">
                  <c:v>81</c:v>
                </c:pt>
                <c:pt idx="3">
                  <c:v>87</c:v>
                </c:pt>
                <c:pt idx="4">
                  <c:v>114</c:v>
                </c:pt>
                <c:pt idx="5">
                  <c:v>68</c:v>
                </c:pt>
                <c:pt idx="6">
                  <c:v>85</c:v>
                </c:pt>
                <c:pt idx="7">
                  <c:v>83</c:v>
                </c:pt>
                <c:pt idx="8">
                  <c:v>87</c:v>
                </c:pt>
                <c:pt idx="9">
                  <c:v>88</c:v>
                </c:pt>
                <c:pt idx="10">
                  <c:v>65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(81)</c:v>
                </c:pt>
              </c:strCache>
            </c:strRef>
          </c:tx>
          <c:spPr>
            <a:solidFill>
              <a:srgbClr val="555555"/>
            </a:solidFill>
            <a:ln w="2794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81</c:v>
                </c:pt>
                <c:pt idx="1">
                  <c:v>81</c:v>
                </c:pt>
                <c:pt idx="2">
                  <c:v>81</c:v>
                </c:pt>
                <c:pt idx="3">
                  <c:v>81</c:v>
                </c:pt>
                <c:pt idx="4">
                  <c:v>81</c:v>
                </c:pt>
                <c:pt idx="5">
                  <c:v>81</c:v>
                </c:pt>
                <c:pt idx="6">
                  <c:v>81</c:v>
                </c:pt>
                <c:pt idx="7">
                  <c:v>81</c:v>
                </c:pt>
                <c:pt idx="8">
                  <c:v>81</c:v>
                </c:pt>
                <c:pt idx="9">
                  <c:v>81</c:v>
                </c:pt>
                <c:pt idx="10">
                  <c:v>81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3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0F6F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1262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502920"/>
            <a:ext cx="685800" cy="6858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57400"/>
            <a:ext cx="685800" cy="6858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611880"/>
            <a:ext cx="685800" cy="685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480" y="2926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D4A017"/>
                </a:solidFill>
              </a:rPr>
              <a:t>ANÁLISIS DE DATOS · MERCADOS FINANCIEROS · 2025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411480" y="713232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el Dólar</a:t>
            </a:r>
            <a:endParaRPr lang="en-US" sz="4000" dirty="0"/>
          </a:p>
        </p:txBody>
      </p:sp>
      <p:sp>
        <p:nvSpPr>
          <p:cNvPr id="10" name="Text 5"/>
          <p:cNvSpPr/>
          <p:nvPr/>
        </p:nvSpPr>
        <p:spPr>
          <a:xfrm>
            <a:off x="411480" y="141732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el Precio</a:t>
            </a:r>
            <a:endParaRPr lang="en-US" sz="4000" dirty="0"/>
          </a:p>
        </p:txBody>
      </p:sp>
      <p:sp>
        <p:nvSpPr>
          <p:cNvPr id="11" name="Text 6"/>
          <p:cNvSpPr/>
          <p:nvPr/>
        </p:nvSpPr>
        <p:spPr>
          <a:xfrm>
            <a:off x="411480" y="2121408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Oro?</a:t>
            </a:r>
            <a:endParaRPr lang="en-US" sz="4000" dirty="0"/>
          </a:p>
        </p:txBody>
      </p:sp>
      <p:sp>
        <p:nvSpPr>
          <p:cNvPr id="12" name="Text 7"/>
          <p:cNvSpPr/>
          <p:nvPr/>
        </p:nvSpPr>
        <p:spPr>
          <a:xfrm>
            <a:off x="411480" y="30358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B2C0"/>
                </a:solidFill>
              </a:rPr>
              <a:t>10 años de datos  ·  Oro  ·  Plata  ·  Dólar Americano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11480" y="3913632"/>
            <a:ext cx="3657600" cy="80467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530352" y="3986784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Alexsandro Luiz Terol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Análisis de Datos  ·  Estrategias de Inversión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D4A017"/>
                </a:solidFill>
              </a:rPr>
              <a:t>¿DE QUÉ VA ESTE PROYECTO?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La pregunta que queremos responder: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896112"/>
          </a:xfrm>
          <a:prstGeom prst="rect">
            <a:avLst/>
          </a:prstGeom>
          <a:solidFill>
            <a:srgbClr val="21262D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6FC"/>
                </a:solidFill>
              </a:rPr>
              <a:t>Cuando el dólar sube o baja,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0F6FC"/>
                </a:solidFill>
              </a:rPr>
              <a:t>¿qué le pasa al oro y a la plata?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2267712"/>
            <a:ext cx="265176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267712"/>
            <a:ext cx="265176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450592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Oro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9768" y="349300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El "puerto seguro". La gente lo compra cuando hay incertidumbre en el mundo.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2267712"/>
            <a:ext cx="265176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2267712"/>
            <a:ext cx="2651760" cy="54864"/>
          </a:xfrm>
          <a:prstGeom prst="rect">
            <a:avLst/>
          </a:prstGeom>
          <a:solidFill>
            <a:srgbClr val="A8B2C0"/>
          </a:solidFill>
          <a:ln w="12700">
            <a:solidFill>
              <a:srgbClr val="A8B2C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450592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Plata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10128" y="349300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Como el oro pero más volátil. También se usa en industria (electrónica, solar).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80760" y="2267712"/>
            <a:ext cx="265176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2267712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450592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Dólar (DXY)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190488" y="349300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El termómetro que mide la fuerza de la moneda más importante del mundo.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D4A017"/>
                </a:solidFill>
              </a:rPr>
              <a:t>LOS DATOS: ¿QUÉ ANALIZAMOS?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Un viaje en el tiempo a través de los números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514600" cy="201168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07008"/>
            <a:ext cx="25146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017"/>
                </a:solidFill>
              </a:rPr>
              <a:t>10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Años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de história diária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2016 →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207008"/>
            <a:ext cx="2514600" cy="201168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07008"/>
            <a:ext cx="2514600" cy="64008"/>
          </a:xfrm>
          <a:prstGeom prst="rect">
            <a:avLst/>
          </a:prstGeom>
          <a:solidFill>
            <a:srgbClr val="A8B2C0"/>
          </a:solidFill>
          <a:ln w="12700">
            <a:solidFill>
              <a:srgbClr val="A8B2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258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8B2C0"/>
                </a:solidFill>
              </a:rPr>
              <a:t>2.575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46120" y="20848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Días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239572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de mercado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analisados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207008"/>
            <a:ext cx="2514600" cy="201168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07008"/>
            <a:ext cx="25146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3258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</a:rPr>
              <a:t>100%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035040" y="20848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Automático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239572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Software avançado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sem erros humaños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01568"/>
            <a:ext cx="841248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01568"/>
            <a:ext cx="64008" cy="14813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4930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¿Qué hicimos?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84048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Recogimos los precios diarios del Oro, Plata y Dólar durante 10 años y aplicamos </a:t>
            </a:r>
            <a:pPr indent="0" marL="0">
              <a:buNone/>
            </a:pPr>
            <a:r>
              <a:rPr lang="en-US" sz="1150" b="1" dirty="0">
                <a:solidFill>
                  <a:srgbClr val="F0F6FC"/>
                </a:solidFill>
              </a:rPr>
              <a:t>métodos estadísticos profesionales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para descubrir patrones ocultos en los datos — sin suposiciones, solo hechos.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D4A017"/>
                </a:solidFill>
              </a:rPr>
              <a:t>HALLAZGO 1  ·  La "Danza" de los Activos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Cuando uno sube, ¿el otro baja?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3703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9844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La Regla General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591056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En la mayoría de los casos, el oro y el dólar se mueven en direcciones opuestas.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230428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Lo que dicen los datos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596896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En 8 de cada 10 días que el dólar cae fuerte, el oro sube.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331012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Conclusión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3602736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El dólar es una excelente brújula, pero no es lo único que mueve el oro.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60520" cy="3703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298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Correlación entre activos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60934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(retornos diarios 2016–2026)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36592" y="1920240"/>
            <a:ext cx="804672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920240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1920240"/>
            <a:ext cx="804672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920240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DXY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08192" y="1920240"/>
            <a:ext cx="804672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1920240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Oro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1920240"/>
            <a:ext cx="804672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920240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Plata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2487168"/>
            <a:ext cx="804672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248716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DXY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57800" y="2487168"/>
            <a:ext cx="804672" cy="530352"/>
          </a:xfrm>
          <a:prstGeom prst="rect">
            <a:avLst/>
          </a:prstGeom>
          <a:solidFill>
            <a:srgbClr val="1E5C3A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248716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1.00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08192" y="2487168"/>
            <a:ext cx="804672" cy="530352"/>
          </a:xfrm>
          <a:prstGeom prst="rect">
            <a:avLst/>
          </a:prstGeom>
          <a:solidFill>
            <a:srgbClr val="7A1E1E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248716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080"/>
                </a:solidFill>
              </a:rPr>
              <a:t>-0.39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49440" y="2487168"/>
            <a:ext cx="804672" cy="530352"/>
          </a:xfrm>
          <a:prstGeom prst="rect">
            <a:avLst/>
          </a:prstGeom>
          <a:solidFill>
            <a:srgbClr val="5C2D1E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248716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080"/>
                </a:solidFill>
              </a:rPr>
              <a:t>-0.33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36592" y="3127248"/>
            <a:ext cx="804672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12724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Oro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57800" y="3127248"/>
            <a:ext cx="804672" cy="530352"/>
          </a:xfrm>
          <a:prstGeom prst="rect">
            <a:avLst/>
          </a:prstGeom>
          <a:solidFill>
            <a:srgbClr val="7A1E1E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312724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080"/>
                </a:solidFill>
              </a:rPr>
              <a:t>-0.39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08192" y="3127248"/>
            <a:ext cx="804672" cy="530352"/>
          </a:xfrm>
          <a:prstGeom prst="rect">
            <a:avLst/>
          </a:prstGeom>
          <a:solidFill>
            <a:srgbClr val="1E5C3A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312724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1.00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949440" y="3127248"/>
            <a:ext cx="804672" cy="530352"/>
          </a:xfrm>
          <a:prstGeom prst="rect">
            <a:avLst/>
          </a:prstGeom>
          <a:solidFill>
            <a:srgbClr val="3A5C1E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312724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0FF9A"/>
                </a:solidFill>
              </a:rPr>
              <a:t>0.77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36592" y="3767328"/>
            <a:ext cx="804672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376732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Plata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7800" y="3767328"/>
            <a:ext cx="804672" cy="530352"/>
          </a:xfrm>
          <a:prstGeom prst="rect">
            <a:avLst/>
          </a:prstGeom>
          <a:solidFill>
            <a:srgbClr val="5C2D1E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7800" y="376732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080"/>
                </a:solidFill>
              </a:rPr>
              <a:t>-0.33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08192" y="3767328"/>
            <a:ext cx="804672" cy="530352"/>
          </a:xfrm>
          <a:prstGeom prst="rect">
            <a:avLst/>
          </a:prstGeom>
          <a:solidFill>
            <a:srgbClr val="3A5C1E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376732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0FF9A"/>
                </a:solidFill>
              </a:rPr>
              <a:t>0.77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949440" y="3767328"/>
            <a:ext cx="804672" cy="530352"/>
          </a:xfrm>
          <a:prstGeom prst="rect">
            <a:avLst/>
          </a:prstGeom>
          <a:solidFill>
            <a:srgbClr val="1E5C3A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376732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1.00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663440" y="44622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🟢 Verde = se mueven juntos  |  🔴 Rojo = se mueven al revés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D4A017"/>
                </a:solidFill>
              </a:rPr>
              <a:t>HALLAZGO 2  ·  Oro vs. Plata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Dos activos con personalidades muy distintas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35608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3258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Dólar (DXY)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70432" y="16733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Referencia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91840" y="1453896"/>
            <a:ext cx="566928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04488" y="14538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0.42%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904488" y="17647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1× vs Dólar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0040" y="2350008"/>
            <a:ext cx="850392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51176"/>
            <a:ext cx="530352" cy="5303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70432" y="24414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Oro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70432" y="27889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Tranquilo y previsible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91840" y="2569464"/>
            <a:ext cx="14173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256946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1.04%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754880" y="28803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2.5× vs Dólar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20040" y="3465576"/>
            <a:ext cx="850392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66744"/>
            <a:ext cx="530352" cy="5303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70432" y="355701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Plata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70432" y="39044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Rebelde — 5× más fuerza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291840" y="3685032"/>
            <a:ext cx="2834640" cy="475488"/>
          </a:xfrm>
          <a:prstGeom prst="rect">
            <a:avLst/>
          </a:prstGeom>
          <a:solidFill>
            <a:srgbClr val="A8B2C0"/>
          </a:solidFill>
          <a:ln w="12700">
            <a:solidFill>
              <a:srgbClr val="A8B2C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36850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B2C0"/>
                </a:solidFill>
              </a:rPr>
              <a:t>2.10%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172200" y="39959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5× vs Dólar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502920" y="461772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💡  La plata ofrece mayores oportunidades, pero exige más valentía al inversor. El oro es más estable y predecible.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D4A017"/>
                </a:solidFill>
              </a:rPr>
              <a:t>EL "TERMÓMETRO" DE OPORTUNIDADES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¿Cómo saber cuándo algo está barato?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A Balança (Ratio):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Comparamos el precio del oro con el de la plata.
</a:t>
            </a:r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Oportunidade Histórica: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Na pandemia, a balança inclinou-se tanto que nos avisou que a plata estava "em promoção". Quem seguiu este dado teve retornos incríveis.
</a:t>
            </a:r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Situação atual: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O ratio está abaixo da média histórica — a plata está relativamente forte face ao oro.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3401568"/>
            <a:ext cx="91440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347472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</a:rPr>
              <a:t>80.9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39684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C"/>
                </a:solidFill>
              </a:rPr>
              <a:t>Media histórica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44531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equilibrio normal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53312" y="3401568"/>
            <a:ext cx="91440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53312" y="347472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125.9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53312" y="39684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C"/>
                </a:solidFill>
              </a:rPr>
              <a:t>Máximo (Mar 2020)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53312" y="44531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pandemia — plata barata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359152" y="3401568"/>
            <a:ext cx="91440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59152" y="347472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44.1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59152" y="39684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C"/>
                </a:solidFill>
              </a:rPr>
              <a:t>Mínimo (Ene 2026)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359152" y="44531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plata cara vs oro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364992" y="3401568"/>
            <a:ext cx="91440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64992" y="347472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~65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64992" y="39684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C"/>
                </a:solidFill>
              </a:rPr>
              <a:t>Valor actual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64992" y="44531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por debajo de la media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63440" y="804672"/>
            <a:ext cx="4160520" cy="41330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896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F6FC"/>
                </a:solidFill>
              </a:rPr>
              <a:t>Ratio Oro/Plata 2016–2026</a:t>
            </a:r>
            <a:endParaRPr lang="en-US" sz="11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709160" y="1261872"/>
          <a:ext cx="40690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D4A017"/>
                </a:solidFill>
              </a:rPr>
              <a:t>LA PRUEBA REAL: SIMULACIÓN DE INVERSIÓN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O que aconteceria se investíssemos $500?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2529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A Estratégia: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Creamos un sistema automático que compra y vende basado en las reglas descubiertas en los datos. Probado con 10 años de histórico real.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993392"/>
            <a:ext cx="2651760" cy="26974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993392"/>
            <a:ext cx="265176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148840"/>
            <a:ext cx="621792" cy="6217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47472" y="28346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017"/>
                </a:solidFill>
              </a:rPr>
              <a:t>$772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47472" y="347472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Capital Final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" y="3785616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$500 → $772 em 10 años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0" y="1993392"/>
            <a:ext cx="2651760" cy="2697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993392"/>
            <a:ext cx="26517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148840"/>
            <a:ext cx="621792" cy="6217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0" y="28346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</a:rPr>
              <a:t>+54%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3200400" y="347472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Beneficio Total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200400" y="3785616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en 10 años de histórico real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053328" y="1993392"/>
            <a:ext cx="2651760" cy="2697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53328" y="1993392"/>
            <a:ext cx="26517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2148840"/>
            <a:ext cx="621792" cy="6217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53328" y="28346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</a:rPr>
              <a:t>-10%</a:t>
            </a:r>
            <a:endParaRPr lang="en-US" sz="3400" dirty="0"/>
          </a:p>
        </p:txBody>
      </p:sp>
      <p:sp>
        <p:nvSpPr>
          <p:cNvPr id="23" name="Text 18"/>
          <p:cNvSpPr/>
          <p:nvPr/>
        </p:nvSpPr>
        <p:spPr>
          <a:xfrm>
            <a:off x="6053328" y="347472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</a:rPr>
              <a:t>Caída Máxima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053328" y="3785616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peor momento — muy controlado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5488" y="4800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✅  Sistema probado sobre datos reales — no son proyecciones ni simulaciones artificiales.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D4A017"/>
                </a:solidFill>
              </a:rPr>
              <a:t>QUALIDADE DO INVESTIMENTO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¿Por qué estos resultados son excelentes?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697480" cy="3822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6974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61872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9019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</a:rPr>
              <a:t>Nota de Calidad (Sharpe): 2.04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24231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Os especialistas dão uma nota ao risco.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 nossa nota foi superior a 2.0 — considerada Excelente.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3154680"/>
            <a:ext cx="242316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19125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&lt; 1.0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4290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450"/>
                </a:solidFill>
              </a:rPr>
              <a:t>Mediocre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3776472"/>
            <a:ext cx="242316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81304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1.0 – 2.0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405079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450"/>
                </a:solidFill>
              </a:rPr>
              <a:t>Bom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4398264"/>
            <a:ext cx="242316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02920" y="44348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&gt; 2.0  ✓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467258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</a:rPr>
              <a:t>Excelente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200400" y="1115568"/>
            <a:ext cx="2697480" cy="3822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0" y="1115568"/>
            <a:ext cx="26974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61872"/>
            <a:ext cx="566928" cy="56692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291840" y="19019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Caída Máxima: -10.1%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291840" y="24231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O máximo que o sistema perdeu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antes de recuperar. Muito controlado.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37560" y="3154680"/>
            <a:ext cx="242316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83280" y="319125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&gt; 30%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383280" y="34290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450"/>
                </a:solidFill>
              </a:rPr>
              <a:t>Peligroso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337560" y="3776472"/>
            <a:ext cx="242316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383280" y="381304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15–30%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383280" y="405079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450"/>
                </a:solidFill>
              </a:rPr>
              <a:t>Aceptable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337560" y="4398264"/>
            <a:ext cx="242316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3383280" y="44348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&lt; 15%  ✓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3383280" y="467258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</a:rPr>
              <a:t>Controlado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080760" y="1115568"/>
            <a:ext cx="2697480" cy="38221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080760" y="1115568"/>
            <a:ext cx="26974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261872"/>
            <a:ext cx="566928" cy="56692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172200" y="19019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Factor Ganancia: 1.72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6172200" y="242316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Por cada $1 que o sistema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arriscou perder, ganhou $1.72.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217920" y="3154680"/>
            <a:ext cx="242316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263640" y="319125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&lt; 1.0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263640" y="34290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450"/>
                </a:solidFill>
              </a:rPr>
              <a:t>Pierde dinero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6217920" y="3776472"/>
            <a:ext cx="242316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263640" y="381304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1.0–1.5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6263640" y="405079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450"/>
                </a:solidFill>
              </a:rPr>
              <a:t>Marginal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6217920" y="4398264"/>
            <a:ext cx="242316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0"/>
          <p:cNvSpPr/>
          <p:nvPr/>
        </p:nvSpPr>
        <p:spPr>
          <a:xfrm>
            <a:off x="6263640" y="44348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&gt; 1.5 ✓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6263640" y="467258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</a:rPr>
              <a:t>Rentable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D4A017"/>
                </a:solidFill>
              </a:rPr>
              <a:t>EL FUTURO DEL PROYECTO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¿Hacia dónde vamos ahora?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51560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115568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Inteligencia Artificial al servicio de la inversión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0040" y="1828800"/>
            <a:ext cx="850392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" y="19019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Conclusión: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Dejamos de usar 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"palpites"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y pasamos a usar la 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ciencia para tomar decisiones con el dinero.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788920"/>
            <a:ext cx="85039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2788920"/>
            <a:ext cx="530352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788920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01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282549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Backtesting 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304495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Probamos las reglas sobre 10 años de datos reales. Resultado: +54% con Sharpe 2.04.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492240" y="2843784"/>
            <a:ext cx="214884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284378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COMPLETADO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" y="3337560"/>
            <a:ext cx="85039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337560"/>
            <a:ext cx="530352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3337560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02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" y="337413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Inteligencia Artificial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60120" y="359359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Una IA aprende con 62 operaciones pasadas a predecir cuáles ganarán y cuáles perderán.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492240" y="3392424"/>
            <a:ext cx="214884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0" y="339242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PRÓXIMO PASO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3886200"/>
            <a:ext cx="850392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0040" y="3886200"/>
            <a:ext cx="530352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3886200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03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60120" y="39227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Paper Trading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60120" y="4142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450"/>
                </a:solidFill>
              </a:rPr>
              <a:t>El sistema opera en tiempo real sin dinero real durante 3–6 meses para validar.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492240" y="3941064"/>
            <a:ext cx="214884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92240" y="394106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FASE 3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20040" y="4434840"/>
            <a:ext cx="850392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20040" y="4434840"/>
            <a:ext cx="530352" cy="475488"/>
          </a:xfrm>
          <a:prstGeom prst="rect">
            <a:avLst/>
          </a:prstGeom>
          <a:solidFill>
            <a:srgbClr val="A8B2C0"/>
          </a:solidFill>
          <a:ln w="12700">
            <a:solidFill>
              <a:srgbClr val="A8B2C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" y="4434840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04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60120" y="447141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Trading en Vivo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60120" y="469087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450"/>
                </a:solidFill>
              </a:rPr>
              <a:t>Implementación con capital real y gestión de riesgo estricta: máximo 2% por operación.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492240" y="4489704"/>
            <a:ext cx="214884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A8B2C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92240" y="448970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B2C0"/>
                </a:solidFill>
              </a:rPr>
              <a:t>OBJETIVO FINAL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47472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170432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190195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6FC"/>
                </a:solidFill>
              </a:rPr>
              <a:t>¡Gracias por vuestra atención!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286000" y="2514600"/>
            <a:ext cx="4572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2724912"/>
            <a:ext cx="22402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278892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</a:rPr>
              <a:t>2.04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005840" y="3337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Sharpe Ratio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36118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calidad excelente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566160" y="2724912"/>
            <a:ext cx="22402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66160" y="278892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</a:rPr>
              <a:t>+54%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566160" y="3337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Retorno 10 años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66160" y="36118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$500 → $772 reais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126480" y="2724912"/>
            <a:ext cx="22402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126480" y="278892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</a:rPr>
              <a:t>-10%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126480" y="3337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Caída máxima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26480" y="36118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riesgo controlado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286000" y="4224528"/>
            <a:ext cx="457200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286000" y="427939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Alexsandro Luiz Terol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Decisiones inteligentes basadas en datos.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¿Puede el Dólar Predecir el Precio del Oro?</dc:title>
  <dc:subject>PptxGenJS Presentation</dc:subject>
  <dc:creator>Alexsandro Luiz Terol</dc:creator>
  <cp:lastModifiedBy>Alexsandro Luiz Terol</cp:lastModifiedBy>
  <cp:revision>1</cp:revision>
  <dcterms:created xsi:type="dcterms:W3CDTF">2026-04-13T06:14:16Z</dcterms:created>
  <dcterms:modified xsi:type="dcterms:W3CDTF">2026-04-13T06:14:16Z</dcterms:modified>
</cp:coreProperties>
</file>